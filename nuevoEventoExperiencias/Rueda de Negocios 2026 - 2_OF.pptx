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178" r:id="rId3"/>
    <p:sldId id="2184" r:id="rId4"/>
    <p:sldId id="2187" r:id="rId5"/>
    <p:sldId id="2186" r:id="rId6"/>
    <p:sldId id="2185" r:id="rId7"/>
    <p:sldId id="2176" r:id="rId8"/>
    <p:sldId id="2175" r:id="rId9"/>
    <p:sldId id="2167" r:id="rId10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2"/>
    </p:embeddedFont>
    <p:embeddedFont>
      <p:font typeface="Arial Narrow" panose="020B06060202020A0204" pitchFamily="34" charset="0"/>
      <p:regular r:id="rId13"/>
      <p:bold r:id="rId14"/>
      <p:italic r:id="rId15"/>
      <p:boldItalic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0606"/>
    <a:srgbClr val="E80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DC78362-BD98-90E8-64E1-2C713185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CB883830-3798-73A7-6EC8-0A71FAF583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40CD65EA-5A38-448A-B79B-3463E8B6D9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308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EB283C4-EA0B-9D68-3949-446CD332AE8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736150" y="4988560"/>
            <a:ext cx="1689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CO" sz="6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Clasificación: Uso Interno. Documento Claro Colombia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DB75CF4B-D148-E0BD-D577-48CA61C7C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707" y="2099735"/>
            <a:ext cx="2938586" cy="777222"/>
          </a:xfrm>
          <a:prstGeom prst="rect">
            <a:avLst/>
          </a:prstGeom>
        </p:spPr>
      </p:pic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EAA26E99-A815-131A-62C3-274F0FF24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1"/>
            <a:ext cx="9144000" cy="5142198"/>
          </a:xfrm>
          <a:prstGeom prst="rect">
            <a:avLst/>
          </a:prstGeom>
        </p:spPr>
      </p:pic>
      <p:pic>
        <p:nvPicPr>
          <p:cNvPr id="6" name="Imagen 5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27342BA1-813C-F2DE-EB5F-52D41FA7BA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99905" y="2414868"/>
            <a:ext cx="1544189" cy="4139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A7FDE-A236-0630-D90F-994499FB5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ángulo: esquinas redondeadas 109">
            <a:extLst>
              <a:ext uri="{FF2B5EF4-FFF2-40B4-BE49-F238E27FC236}">
                <a16:creationId xmlns:a16="http://schemas.microsoft.com/office/drawing/2014/main" id="{B78745B5-B413-C1AC-BBF2-3C72475A70E8}"/>
              </a:ext>
            </a:extLst>
          </p:cNvPr>
          <p:cNvSpPr/>
          <p:nvPr/>
        </p:nvSpPr>
        <p:spPr>
          <a:xfrm>
            <a:off x="7171754" y="2661517"/>
            <a:ext cx="1156884" cy="3313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08" name="Rectángulo: esquinas redondeadas 107">
            <a:extLst>
              <a:ext uri="{FF2B5EF4-FFF2-40B4-BE49-F238E27FC236}">
                <a16:creationId xmlns:a16="http://schemas.microsoft.com/office/drawing/2014/main" id="{18E34A9F-2F0B-22BD-1FA7-2F4D5EA6CB3C}"/>
              </a:ext>
            </a:extLst>
          </p:cNvPr>
          <p:cNvSpPr/>
          <p:nvPr/>
        </p:nvSpPr>
        <p:spPr>
          <a:xfrm>
            <a:off x="5150700" y="2661517"/>
            <a:ext cx="1156884" cy="3313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04" name="Rectángulo: esquinas redondeadas 103">
            <a:extLst>
              <a:ext uri="{FF2B5EF4-FFF2-40B4-BE49-F238E27FC236}">
                <a16:creationId xmlns:a16="http://schemas.microsoft.com/office/drawing/2014/main" id="{33629BD6-CD6C-F639-B8F6-73B3703F5727}"/>
              </a:ext>
            </a:extLst>
          </p:cNvPr>
          <p:cNvSpPr/>
          <p:nvPr/>
        </p:nvSpPr>
        <p:spPr>
          <a:xfrm>
            <a:off x="3086082" y="2661517"/>
            <a:ext cx="1156884" cy="3313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00" name="Rectángulo: esquinas redondeadas 99">
            <a:extLst>
              <a:ext uri="{FF2B5EF4-FFF2-40B4-BE49-F238E27FC236}">
                <a16:creationId xmlns:a16="http://schemas.microsoft.com/office/drawing/2014/main" id="{24357C65-89EF-53D8-7425-4D2462722B79}"/>
              </a:ext>
            </a:extLst>
          </p:cNvPr>
          <p:cNvSpPr/>
          <p:nvPr/>
        </p:nvSpPr>
        <p:spPr>
          <a:xfrm>
            <a:off x="1167851" y="2661517"/>
            <a:ext cx="1156884" cy="3313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EFDC767-1339-B259-B0F5-0B38640B1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54" y="1596041"/>
            <a:ext cx="329817" cy="32981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63706B6-01CA-79F7-6F5B-BE436E385AAB}"/>
              </a:ext>
            </a:extLst>
          </p:cNvPr>
          <p:cNvSpPr txBox="1"/>
          <p:nvPr/>
        </p:nvSpPr>
        <p:spPr>
          <a:xfrm>
            <a:off x="559492" y="1899168"/>
            <a:ext cx="177222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P</a:t>
            </a:r>
            <a:r>
              <a:rPr lang="es-CO" sz="900" err="1">
                <a:solidFill>
                  <a:schemeClr val="tx1"/>
                </a:solidFill>
                <a:latin typeface="Century Gothic"/>
                <a:cs typeface="Aharoni"/>
              </a:rPr>
              <a:t>rogrammatic</a:t>
            </a:r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3,13%</a:t>
            </a:r>
          </a:p>
          <a:p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Push Multimedia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2,7%</a:t>
            </a:r>
          </a:p>
          <a:p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SMS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 1,52%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6DA84DE-E1FC-D2AB-B3E2-D7A9E545641D}"/>
              </a:ext>
            </a:extLst>
          </p:cNvPr>
          <p:cNvSpPr txBox="1"/>
          <p:nvPr/>
        </p:nvSpPr>
        <p:spPr>
          <a:xfrm>
            <a:off x="2582213" y="1899168"/>
            <a:ext cx="1772228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Redes sociales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5,42%</a:t>
            </a:r>
          </a:p>
          <a:p>
            <a:r>
              <a:rPr lang="es-CO" sz="900" err="1">
                <a:solidFill>
                  <a:schemeClr val="tx1"/>
                </a:solidFill>
                <a:latin typeface="Century Gothic"/>
                <a:cs typeface="Aharoni"/>
              </a:rPr>
              <a:t>Sat</a:t>
            </a:r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 Push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4,19%</a:t>
            </a:r>
          </a:p>
          <a:p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Push Multimedia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2,47%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EB42BA1F-803C-855B-6BA4-3B2C58305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493" y="1548871"/>
            <a:ext cx="424156" cy="42415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AF0BFD1D-2C96-1248-DD49-F2FD17772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505" y="1616562"/>
            <a:ext cx="288774" cy="288774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D9D94A88-4016-98AE-AF56-9DE532E9B801}"/>
              </a:ext>
            </a:extLst>
          </p:cNvPr>
          <p:cNvSpPr txBox="1"/>
          <p:nvPr/>
        </p:nvSpPr>
        <p:spPr>
          <a:xfrm>
            <a:off x="4676850" y="1899168"/>
            <a:ext cx="1772228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Push Multimedia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3,18%</a:t>
            </a:r>
          </a:p>
          <a:p>
            <a:r>
              <a:rPr lang="es-CO" sz="900" err="1">
                <a:solidFill>
                  <a:schemeClr val="tx1"/>
                </a:solidFill>
                <a:latin typeface="Century Gothic"/>
                <a:cs typeface="Aharoni"/>
              </a:rPr>
              <a:t>Programmatic</a:t>
            </a:r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2,86%</a:t>
            </a:r>
          </a:p>
          <a:p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SMS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 7,1%</a:t>
            </a: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8CE7A052-3A6A-2859-922E-EB45DDEE2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742" y="1629739"/>
            <a:ext cx="262421" cy="26242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DA53012E-DDE8-8346-F646-EA8DA3F2B8C2}"/>
              </a:ext>
            </a:extLst>
          </p:cNvPr>
          <p:cNvSpPr txBox="1"/>
          <p:nvPr/>
        </p:nvSpPr>
        <p:spPr>
          <a:xfrm>
            <a:off x="6722431" y="1899168"/>
            <a:ext cx="1772228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RRSS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3,73%</a:t>
            </a:r>
            <a:endParaRPr lang="es-CO" sz="900">
              <a:solidFill>
                <a:schemeClr val="tx1"/>
              </a:solidFill>
              <a:latin typeface="Century Gothic"/>
              <a:cs typeface="Aharoni"/>
            </a:endParaRPr>
          </a:p>
          <a:p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Push Multimedia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2,96%</a:t>
            </a:r>
          </a:p>
          <a:p>
            <a:r>
              <a:rPr lang="es-CO" sz="900" err="1">
                <a:solidFill>
                  <a:schemeClr val="tx1"/>
                </a:solidFill>
                <a:latin typeface="Century Gothic"/>
                <a:cs typeface="Aharoni"/>
              </a:rPr>
              <a:t>Programátic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 1,33%</a:t>
            </a: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497DFA66-E004-ED7C-E54A-FCF3598C5B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28" y="2663313"/>
            <a:ext cx="327762" cy="327762"/>
          </a:xfrm>
          <a:prstGeom prst="rect">
            <a:avLst/>
          </a:prstGeom>
        </p:spPr>
      </p:pic>
      <p:sp>
        <p:nvSpPr>
          <p:cNvPr id="51" name="CuadroTexto 50">
            <a:extLst>
              <a:ext uri="{FF2B5EF4-FFF2-40B4-BE49-F238E27FC236}">
                <a16:creationId xmlns:a16="http://schemas.microsoft.com/office/drawing/2014/main" id="{E0DCB725-FFD1-1632-6A02-BC9D8C900636}"/>
              </a:ext>
            </a:extLst>
          </p:cNvPr>
          <p:cNvSpPr txBox="1"/>
          <p:nvPr/>
        </p:nvSpPr>
        <p:spPr>
          <a:xfrm>
            <a:off x="1184093" y="2673306"/>
            <a:ext cx="112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Tecnología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370A189-B460-1D8A-3610-BF355F1B4F3C}"/>
              </a:ext>
            </a:extLst>
          </p:cNvPr>
          <p:cNvSpPr txBox="1"/>
          <p:nvPr/>
        </p:nvSpPr>
        <p:spPr>
          <a:xfrm>
            <a:off x="589244" y="2965968"/>
            <a:ext cx="177222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900" err="1">
                <a:solidFill>
                  <a:schemeClr val="tx1"/>
                </a:solidFill>
                <a:latin typeface="Century Gothic"/>
                <a:cs typeface="Aharoni"/>
              </a:rPr>
              <a:t>Sat</a:t>
            </a:r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 Push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4,93%</a:t>
            </a:r>
          </a:p>
          <a:p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Push Multimedia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3,77%</a:t>
            </a:r>
          </a:p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P</a:t>
            </a:r>
            <a:r>
              <a:rPr lang="es-CO" sz="900" err="1">
                <a:solidFill>
                  <a:schemeClr val="tx1"/>
                </a:solidFill>
                <a:latin typeface="Century Gothic"/>
                <a:cs typeface="Aharoni"/>
              </a:rPr>
              <a:t>rogrammatic</a:t>
            </a:r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2,53%</a:t>
            </a:r>
          </a:p>
          <a:p>
            <a:r>
              <a:rPr lang="es-CO" sz="900">
                <a:solidFill>
                  <a:schemeClr val="tx1"/>
                </a:solidFill>
                <a:latin typeface="Century Gothic"/>
                <a:cs typeface="Aharoni"/>
              </a:rPr>
              <a:t>Redes sociales </a:t>
            </a:r>
            <a:r>
              <a:rPr lang="es-CO" sz="900" b="1">
                <a:solidFill>
                  <a:schemeClr val="tx1"/>
                </a:solidFill>
                <a:latin typeface="Century Gothic"/>
                <a:cs typeface="Aharoni"/>
              </a:rPr>
              <a:t>2,4%</a:t>
            </a:r>
          </a:p>
        </p:txBody>
      </p:sp>
      <p:pic>
        <p:nvPicPr>
          <p:cNvPr id="81" name="Imagen 80">
            <a:extLst>
              <a:ext uri="{FF2B5EF4-FFF2-40B4-BE49-F238E27FC236}">
                <a16:creationId xmlns:a16="http://schemas.microsoft.com/office/drawing/2014/main" id="{C674BC87-ABF7-9CC7-03F8-32129AEE81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4154" y="2661517"/>
            <a:ext cx="331355" cy="331355"/>
          </a:xfrm>
          <a:prstGeom prst="rect">
            <a:avLst/>
          </a:prstGeom>
        </p:spPr>
      </p:pic>
      <p:sp>
        <p:nvSpPr>
          <p:cNvPr id="83" name="CuadroTexto 82">
            <a:extLst>
              <a:ext uri="{FF2B5EF4-FFF2-40B4-BE49-F238E27FC236}">
                <a16:creationId xmlns:a16="http://schemas.microsoft.com/office/drawing/2014/main" id="{1F4A05EA-2450-737A-41B1-CD750741E2E3}"/>
              </a:ext>
            </a:extLst>
          </p:cNvPr>
          <p:cNvSpPr txBox="1"/>
          <p:nvPr/>
        </p:nvSpPr>
        <p:spPr>
          <a:xfrm>
            <a:off x="3012649" y="2673306"/>
            <a:ext cx="1215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Financiera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58B6B59D-C4B1-9516-A678-EF4BB3EC59B5}"/>
              </a:ext>
            </a:extLst>
          </p:cNvPr>
          <p:cNvSpPr txBox="1"/>
          <p:nvPr/>
        </p:nvSpPr>
        <p:spPr>
          <a:xfrm>
            <a:off x="2531734" y="2965968"/>
            <a:ext cx="177222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900" err="1">
                <a:solidFill>
                  <a:schemeClr val="tx1"/>
                </a:solidFill>
                <a:latin typeface="Century Gothic"/>
                <a:cs typeface="Aharoni"/>
              </a:rPr>
              <a:t>Sat</a:t>
            </a:r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 Push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6,21%</a:t>
            </a:r>
            <a:endParaRPr lang="es-MX" sz="900">
              <a:solidFill>
                <a:schemeClr val="tx1"/>
              </a:solidFill>
              <a:latin typeface="Century Gothic"/>
              <a:cs typeface="Aharoni"/>
            </a:endParaRPr>
          </a:p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Push Multimedia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3,48%</a:t>
            </a:r>
          </a:p>
          <a:p>
            <a:r>
              <a:rPr lang="es-MX" sz="900" err="1">
                <a:solidFill>
                  <a:schemeClr val="tx1"/>
                </a:solidFill>
                <a:latin typeface="Century Gothic"/>
                <a:cs typeface="Aharoni"/>
              </a:rPr>
              <a:t>Programmatic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 2,79%</a:t>
            </a:r>
          </a:p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RCS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2,35%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394273CB-2FFB-C06F-077B-C07B77F8FCD9}"/>
              </a:ext>
            </a:extLst>
          </p:cNvPr>
          <p:cNvSpPr txBox="1"/>
          <p:nvPr/>
        </p:nvSpPr>
        <p:spPr>
          <a:xfrm>
            <a:off x="5121222" y="2673306"/>
            <a:ext cx="1215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Comercios</a:t>
            </a:r>
          </a:p>
        </p:txBody>
      </p:sp>
      <p:pic>
        <p:nvPicPr>
          <p:cNvPr id="91" name="Imagen 90">
            <a:extLst>
              <a:ext uri="{FF2B5EF4-FFF2-40B4-BE49-F238E27FC236}">
                <a16:creationId xmlns:a16="http://schemas.microsoft.com/office/drawing/2014/main" id="{9FA72CE6-6378-4141-B965-9E8255FA00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9028" y="2657917"/>
            <a:ext cx="338554" cy="338554"/>
          </a:xfrm>
          <a:prstGeom prst="rect">
            <a:avLst/>
          </a:prstGeom>
        </p:spPr>
      </p:pic>
      <p:pic>
        <p:nvPicPr>
          <p:cNvPr id="93" name="Imagen 92">
            <a:extLst>
              <a:ext uri="{FF2B5EF4-FFF2-40B4-BE49-F238E27FC236}">
                <a16:creationId xmlns:a16="http://schemas.microsoft.com/office/drawing/2014/main" id="{236838B4-8C83-B4EB-B2BD-F5BF9DD18B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5759" y="2637932"/>
            <a:ext cx="378525" cy="378525"/>
          </a:xfrm>
          <a:prstGeom prst="rect">
            <a:avLst/>
          </a:prstGeom>
        </p:spPr>
      </p:pic>
      <p:sp>
        <p:nvSpPr>
          <p:cNvPr id="95" name="CuadroTexto 94">
            <a:extLst>
              <a:ext uri="{FF2B5EF4-FFF2-40B4-BE49-F238E27FC236}">
                <a16:creationId xmlns:a16="http://schemas.microsoft.com/office/drawing/2014/main" id="{B382153F-FBC3-AE32-FEB4-99EAF763F8AE}"/>
              </a:ext>
            </a:extLst>
          </p:cNvPr>
          <p:cNvSpPr txBox="1"/>
          <p:nvPr/>
        </p:nvSpPr>
        <p:spPr>
          <a:xfrm>
            <a:off x="7142276" y="2673306"/>
            <a:ext cx="1215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Apuestas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8912B2C3-56FF-828E-70D4-F56702960D95}"/>
              </a:ext>
            </a:extLst>
          </p:cNvPr>
          <p:cNvSpPr txBox="1"/>
          <p:nvPr/>
        </p:nvSpPr>
        <p:spPr>
          <a:xfrm>
            <a:off x="4676240" y="2965968"/>
            <a:ext cx="1772228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Push Multimedia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2,57%</a:t>
            </a:r>
            <a:endParaRPr lang="es-MX" sz="900">
              <a:solidFill>
                <a:schemeClr val="tx1"/>
              </a:solidFill>
              <a:latin typeface="Century Gothic"/>
              <a:cs typeface="Aharoni"/>
            </a:endParaRPr>
          </a:p>
          <a:p>
            <a:r>
              <a:rPr lang="es-MX" sz="900" err="1">
                <a:solidFill>
                  <a:schemeClr val="tx1"/>
                </a:solidFill>
                <a:latin typeface="Century Gothic"/>
                <a:cs typeface="Aharoni"/>
              </a:rPr>
              <a:t>Programmatic</a:t>
            </a:r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2,08%</a:t>
            </a:r>
          </a:p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SMS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 0,7%</a:t>
            </a:r>
            <a:endParaRPr lang="es-CO" sz="900" b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854B63DE-1267-F735-CF7F-7C5B616AD274}"/>
              </a:ext>
            </a:extLst>
          </p:cNvPr>
          <p:cNvSpPr txBox="1"/>
          <p:nvPr/>
        </p:nvSpPr>
        <p:spPr>
          <a:xfrm>
            <a:off x="6626269" y="2965968"/>
            <a:ext cx="1772228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Push Multimedia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5,09</a:t>
            </a:r>
          </a:p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Redes sociales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2,58%</a:t>
            </a:r>
            <a:endParaRPr lang="es-MX" sz="900">
              <a:solidFill>
                <a:schemeClr val="tx1"/>
              </a:solidFill>
              <a:latin typeface="Century Gothic"/>
              <a:cs typeface="Aharoni"/>
            </a:endParaRPr>
          </a:p>
          <a:p>
            <a:r>
              <a:rPr lang="es-MX" sz="900" err="1">
                <a:solidFill>
                  <a:schemeClr val="tx1"/>
                </a:solidFill>
                <a:latin typeface="Century Gothic"/>
                <a:cs typeface="Aharoni"/>
              </a:rPr>
              <a:t>Programmatic</a:t>
            </a:r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2,49%</a:t>
            </a:r>
          </a:p>
        </p:txBody>
      </p:sp>
      <p:sp>
        <p:nvSpPr>
          <p:cNvPr id="114" name="Rectángulo: esquinas redondeadas 113">
            <a:extLst>
              <a:ext uri="{FF2B5EF4-FFF2-40B4-BE49-F238E27FC236}">
                <a16:creationId xmlns:a16="http://schemas.microsoft.com/office/drawing/2014/main" id="{423F4C82-DDC8-B4F0-921B-8A2A7680C0F8}"/>
              </a:ext>
            </a:extLst>
          </p:cNvPr>
          <p:cNvSpPr/>
          <p:nvPr/>
        </p:nvSpPr>
        <p:spPr>
          <a:xfrm>
            <a:off x="1167851" y="1595272"/>
            <a:ext cx="1156884" cy="3313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951BAE83-11BA-DBF7-C98A-D9F54E397E47}"/>
              </a:ext>
            </a:extLst>
          </p:cNvPr>
          <p:cNvSpPr txBox="1"/>
          <p:nvPr/>
        </p:nvSpPr>
        <p:spPr>
          <a:xfrm>
            <a:off x="1184093" y="1607061"/>
            <a:ext cx="112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Salud</a:t>
            </a:r>
          </a:p>
        </p:txBody>
      </p:sp>
      <p:sp>
        <p:nvSpPr>
          <p:cNvPr id="118" name="Rectángulo: esquinas redondeadas 117">
            <a:extLst>
              <a:ext uri="{FF2B5EF4-FFF2-40B4-BE49-F238E27FC236}">
                <a16:creationId xmlns:a16="http://schemas.microsoft.com/office/drawing/2014/main" id="{982B6D00-2D2E-8928-5D28-35400A358163}"/>
              </a:ext>
            </a:extLst>
          </p:cNvPr>
          <p:cNvSpPr/>
          <p:nvPr/>
        </p:nvSpPr>
        <p:spPr>
          <a:xfrm>
            <a:off x="3086082" y="1595272"/>
            <a:ext cx="1156884" cy="3313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5AAC5E1E-B556-F8D1-F214-C3381381DC79}"/>
              </a:ext>
            </a:extLst>
          </p:cNvPr>
          <p:cNvSpPr txBox="1"/>
          <p:nvPr/>
        </p:nvSpPr>
        <p:spPr>
          <a:xfrm>
            <a:off x="3102324" y="1607061"/>
            <a:ext cx="112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Educación</a:t>
            </a:r>
          </a:p>
        </p:txBody>
      </p:sp>
      <p:sp>
        <p:nvSpPr>
          <p:cNvPr id="122" name="Rectángulo: esquinas redondeadas 121">
            <a:extLst>
              <a:ext uri="{FF2B5EF4-FFF2-40B4-BE49-F238E27FC236}">
                <a16:creationId xmlns:a16="http://schemas.microsoft.com/office/drawing/2014/main" id="{E8B57558-711E-3D6A-1403-30FBE85E17C5}"/>
              </a:ext>
            </a:extLst>
          </p:cNvPr>
          <p:cNvSpPr/>
          <p:nvPr/>
        </p:nvSpPr>
        <p:spPr>
          <a:xfrm>
            <a:off x="5150700" y="1595272"/>
            <a:ext cx="1156884" cy="3313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B005CAA7-4F74-5EC4-63D3-DF8DD96416BB}"/>
              </a:ext>
            </a:extLst>
          </p:cNvPr>
          <p:cNvSpPr txBox="1"/>
          <p:nvPr/>
        </p:nvSpPr>
        <p:spPr>
          <a:xfrm>
            <a:off x="5166942" y="1607061"/>
            <a:ext cx="112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Automotor</a:t>
            </a:r>
          </a:p>
        </p:txBody>
      </p:sp>
      <p:sp>
        <p:nvSpPr>
          <p:cNvPr id="126" name="Rectángulo: esquinas redondeadas 125">
            <a:extLst>
              <a:ext uri="{FF2B5EF4-FFF2-40B4-BE49-F238E27FC236}">
                <a16:creationId xmlns:a16="http://schemas.microsoft.com/office/drawing/2014/main" id="{4BE3785A-BBA0-86D9-EB99-2643902E1F93}"/>
              </a:ext>
            </a:extLst>
          </p:cNvPr>
          <p:cNvSpPr/>
          <p:nvPr/>
        </p:nvSpPr>
        <p:spPr>
          <a:xfrm>
            <a:off x="7171754" y="1595272"/>
            <a:ext cx="1156884" cy="3313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9B133C00-2288-2C5B-FD84-325FD788B88E}"/>
              </a:ext>
            </a:extLst>
          </p:cNvPr>
          <p:cNvSpPr txBox="1"/>
          <p:nvPr/>
        </p:nvSpPr>
        <p:spPr>
          <a:xfrm>
            <a:off x="7187996" y="1607061"/>
            <a:ext cx="112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Belleza</a:t>
            </a:r>
          </a:p>
        </p:txBody>
      </p:sp>
      <p:sp>
        <p:nvSpPr>
          <p:cNvPr id="136" name="Rectángulo: esquinas redondeadas 135">
            <a:extLst>
              <a:ext uri="{FF2B5EF4-FFF2-40B4-BE49-F238E27FC236}">
                <a16:creationId xmlns:a16="http://schemas.microsoft.com/office/drawing/2014/main" id="{25FDC924-5A23-27BC-277F-0A2A83BD98D9}"/>
              </a:ext>
            </a:extLst>
          </p:cNvPr>
          <p:cNvSpPr/>
          <p:nvPr/>
        </p:nvSpPr>
        <p:spPr>
          <a:xfrm>
            <a:off x="1767550" y="3871702"/>
            <a:ext cx="1156884" cy="3313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pic>
        <p:nvPicPr>
          <p:cNvPr id="138" name="Imagen 137">
            <a:extLst>
              <a:ext uri="{FF2B5EF4-FFF2-40B4-BE49-F238E27FC236}">
                <a16:creationId xmlns:a16="http://schemas.microsoft.com/office/drawing/2014/main" id="{C65F21A2-013A-6C59-A92D-41563FF9CA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1555" y="3848117"/>
            <a:ext cx="378525" cy="378525"/>
          </a:xfrm>
          <a:prstGeom prst="rect">
            <a:avLst/>
          </a:prstGeom>
        </p:spPr>
      </p:pic>
      <p:sp>
        <p:nvSpPr>
          <p:cNvPr id="140" name="CuadroTexto 139">
            <a:extLst>
              <a:ext uri="{FF2B5EF4-FFF2-40B4-BE49-F238E27FC236}">
                <a16:creationId xmlns:a16="http://schemas.microsoft.com/office/drawing/2014/main" id="{C843599E-8C76-FAB8-B4E7-DDFCA57B0316}"/>
              </a:ext>
            </a:extLst>
          </p:cNvPr>
          <p:cNvSpPr txBox="1"/>
          <p:nvPr/>
        </p:nvSpPr>
        <p:spPr>
          <a:xfrm>
            <a:off x="1738072" y="3898880"/>
            <a:ext cx="1215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Construcción</a:t>
            </a:r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E0EBAFC2-68F6-4D58-3564-8E112A2570F7}"/>
              </a:ext>
            </a:extLst>
          </p:cNvPr>
          <p:cNvSpPr txBox="1"/>
          <p:nvPr/>
        </p:nvSpPr>
        <p:spPr>
          <a:xfrm>
            <a:off x="1453005" y="4198084"/>
            <a:ext cx="1772228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Push Multimedia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3,47%</a:t>
            </a:r>
          </a:p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Redes sociales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2,47%</a:t>
            </a:r>
            <a:endParaRPr lang="es-MX" sz="900">
              <a:solidFill>
                <a:schemeClr val="tx1"/>
              </a:solidFill>
              <a:latin typeface="Century Gothic"/>
              <a:cs typeface="Aharoni"/>
            </a:endParaRPr>
          </a:p>
          <a:p>
            <a:r>
              <a:rPr lang="es-MX" sz="900" err="1">
                <a:solidFill>
                  <a:schemeClr val="tx1"/>
                </a:solidFill>
                <a:latin typeface="Century Gothic"/>
                <a:cs typeface="Aharoni"/>
              </a:rPr>
              <a:t>Programmatic</a:t>
            </a:r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1,39%</a:t>
            </a:r>
          </a:p>
        </p:txBody>
      </p:sp>
      <p:pic>
        <p:nvPicPr>
          <p:cNvPr id="144" name="Imagen 143">
            <a:extLst>
              <a:ext uri="{FF2B5EF4-FFF2-40B4-BE49-F238E27FC236}">
                <a16:creationId xmlns:a16="http://schemas.microsoft.com/office/drawing/2014/main" id="{6D9B29C6-237B-742E-9054-9D815F5248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1435" y="3806325"/>
            <a:ext cx="387804" cy="387804"/>
          </a:xfrm>
          <a:prstGeom prst="rect">
            <a:avLst/>
          </a:prstGeom>
        </p:spPr>
      </p:pic>
      <p:sp>
        <p:nvSpPr>
          <p:cNvPr id="146" name="Rectángulo: esquinas redondeadas 145">
            <a:extLst>
              <a:ext uri="{FF2B5EF4-FFF2-40B4-BE49-F238E27FC236}">
                <a16:creationId xmlns:a16="http://schemas.microsoft.com/office/drawing/2014/main" id="{CD589B23-E92D-5D40-2EE9-FC43740ECC9C}"/>
              </a:ext>
            </a:extLst>
          </p:cNvPr>
          <p:cNvSpPr/>
          <p:nvPr/>
        </p:nvSpPr>
        <p:spPr>
          <a:xfrm>
            <a:off x="4189092" y="3871702"/>
            <a:ext cx="1156884" cy="3313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2654FE26-6F7E-B9B5-F5E3-87B87E76872D}"/>
              </a:ext>
            </a:extLst>
          </p:cNvPr>
          <p:cNvSpPr txBox="1"/>
          <p:nvPr/>
        </p:nvSpPr>
        <p:spPr>
          <a:xfrm>
            <a:off x="4159614" y="3898880"/>
            <a:ext cx="1215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Gobiernos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1BC67987-8E34-9612-5F1B-228F3656D3E0}"/>
              </a:ext>
            </a:extLst>
          </p:cNvPr>
          <p:cNvSpPr txBox="1"/>
          <p:nvPr/>
        </p:nvSpPr>
        <p:spPr>
          <a:xfrm>
            <a:off x="3805852" y="4243804"/>
            <a:ext cx="1772228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Push Multimedia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3%</a:t>
            </a:r>
          </a:p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SMS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3,21%</a:t>
            </a:r>
            <a:endParaRPr lang="es-MX" sz="900">
              <a:solidFill>
                <a:schemeClr val="tx1"/>
              </a:solidFill>
              <a:latin typeface="Century Gothic"/>
              <a:cs typeface="Aharoni"/>
            </a:endParaRPr>
          </a:p>
          <a:p>
            <a:r>
              <a:rPr lang="es-MX" sz="900" err="1">
                <a:solidFill>
                  <a:schemeClr val="tx1"/>
                </a:solidFill>
                <a:latin typeface="Century Gothic"/>
                <a:cs typeface="Aharoni"/>
              </a:rPr>
              <a:t>Programmatic</a:t>
            </a:r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1,12%</a:t>
            </a:r>
          </a:p>
        </p:txBody>
      </p:sp>
      <p:sp>
        <p:nvSpPr>
          <p:cNvPr id="154" name="Rectángulo: esquinas redondeadas 153">
            <a:extLst>
              <a:ext uri="{FF2B5EF4-FFF2-40B4-BE49-F238E27FC236}">
                <a16:creationId xmlns:a16="http://schemas.microsoft.com/office/drawing/2014/main" id="{E3611FA4-534F-738D-08A1-2D873DE340D5}"/>
              </a:ext>
            </a:extLst>
          </p:cNvPr>
          <p:cNvSpPr/>
          <p:nvPr/>
        </p:nvSpPr>
        <p:spPr>
          <a:xfrm>
            <a:off x="6443672" y="3871702"/>
            <a:ext cx="1156884" cy="331355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bg1"/>
              </a:solidFill>
            </a:endParaRP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85771217-7A09-5902-F1E6-F8ADDABA50C6}"/>
              </a:ext>
            </a:extLst>
          </p:cNvPr>
          <p:cNvSpPr txBox="1"/>
          <p:nvPr/>
        </p:nvSpPr>
        <p:spPr>
          <a:xfrm>
            <a:off x="6414194" y="3898880"/>
            <a:ext cx="1215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Servicios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E2EDD008-88D3-EADD-5264-B4EE79C59582}"/>
              </a:ext>
            </a:extLst>
          </p:cNvPr>
          <p:cNvSpPr txBox="1"/>
          <p:nvPr/>
        </p:nvSpPr>
        <p:spPr>
          <a:xfrm>
            <a:off x="6060432" y="4198084"/>
            <a:ext cx="1772228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900" err="1">
                <a:solidFill>
                  <a:schemeClr val="tx1"/>
                </a:solidFill>
                <a:latin typeface="Century Gothic"/>
                <a:cs typeface="Aharoni"/>
              </a:rPr>
              <a:t>Programmatic</a:t>
            </a:r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3,68%</a:t>
            </a:r>
            <a:endParaRPr lang="es-MX" sz="900">
              <a:solidFill>
                <a:schemeClr val="tx1"/>
              </a:solidFill>
              <a:latin typeface="Century Gothic"/>
              <a:cs typeface="Aharoni"/>
            </a:endParaRPr>
          </a:p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Push Multimedia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2,96%</a:t>
            </a:r>
          </a:p>
          <a:p>
            <a:r>
              <a:rPr lang="es-MX" sz="900">
                <a:solidFill>
                  <a:schemeClr val="tx1"/>
                </a:solidFill>
                <a:latin typeface="Century Gothic"/>
                <a:cs typeface="Aharoni"/>
              </a:rPr>
              <a:t>SMS </a:t>
            </a:r>
            <a:r>
              <a:rPr lang="es-MX" sz="900" b="1">
                <a:solidFill>
                  <a:schemeClr val="tx1"/>
                </a:solidFill>
                <a:latin typeface="Century Gothic"/>
                <a:cs typeface="Aharoni"/>
              </a:rPr>
              <a:t>1,3%</a:t>
            </a:r>
            <a:endParaRPr lang="es-MX" sz="900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C160D199-00DD-9010-1285-3E29AA9F27D6}"/>
              </a:ext>
            </a:extLst>
          </p:cNvPr>
          <p:cNvSpPr txBox="1"/>
          <p:nvPr/>
        </p:nvSpPr>
        <p:spPr>
          <a:xfrm>
            <a:off x="1175866" y="303761"/>
            <a:ext cx="72221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/>
              <a:t>CONOCEMOS CÓMO INTERACTÚAN LAS AUDIENCIAS</a:t>
            </a:r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ED9EA9D5-8CBD-360F-D6B0-CA64BF3B21CE}"/>
              </a:ext>
            </a:extLst>
          </p:cNvPr>
          <p:cNvSpPr txBox="1"/>
          <p:nvPr/>
        </p:nvSpPr>
        <p:spPr>
          <a:xfrm>
            <a:off x="1985179" y="693249"/>
            <a:ext cx="5603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/>
              <a:t>Cada categoría interactúa de forma diferente. Estos resultados nos permiten entender su respuesta a distintos formatos:</a:t>
            </a:r>
          </a:p>
        </p:txBody>
      </p:sp>
      <p:pic>
        <p:nvPicPr>
          <p:cNvPr id="164" name="Imagen 163">
            <a:extLst>
              <a:ext uri="{FF2B5EF4-FFF2-40B4-BE49-F238E27FC236}">
                <a16:creationId xmlns:a16="http://schemas.microsoft.com/office/drawing/2014/main" id="{FDDD30C6-0444-DE02-FE17-0B3829E455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9675" y="3789589"/>
            <a:ext cx="405250" cy="4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1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AD880-6D8F-9BE7-DC80-4D9E82DF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D346F89-9861-D3CF-ADE1-7A00B2E2BC73}"/>
              </a:ext>
            </a:extLst>
          </p:cNvPr>
          <p:cNvSpPr txBox="1"/>
          <p:nvPr/>
        </p:nvSpPr>
        <p:spPr>
          <a:xfrm>
            <a:off x="1546883" y="881693"/>
            <a:ext cx="40357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>
                <a:solidFill>
                  <a:srgbClr val="E8060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ELITE 360</a:t>
            </a:r>
          </a:p>
          <a:p>
            <a:r>
              <a:rPr lang="es-ES" sz="1600" b="1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LLEGA AL SIGUIENTE NIVEL</a:t>
            </a:r>
            <a:endParaRPr lang="es-CO" sz="1800" b="1">
              <a:solidFill>
                <a:schemeClr val="tx1">
                  <a:lumMod val="95000"/>
                  <a:lumOff val="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6E3F835-763C-C505-B0A0-299028954535}"/>
              </a:ext>
            </a:extLst>
          </p:cNvPr>
          <p:cNvCxnSpPr>
            <a:cxnSpLocks/>
          </p:cNvCxnSpPr>
          <p:nvPr/>
        </p:nvCxnSpPr>
        <p:spPr>
          <a:xfrm>
            <a:off x="1546883" y="1446360"/>
            <a:ext cx="98235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88;p17" descr="ARO BLANCO.png">
            <a:extLst>
              <a:ext uri="{FF2B5EF4-FFF2-40B4-BE49-F238E27FC236}">
                <a16:creationId xmlns:a16="http://schemas.microsoft.com/office/drawing/2014/main" id="{2FDDCE16-D166-ADE5-5A37-7593FB02D21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62517"/>
          <a:stretch/>
        </p:blipFill>
        <p:spPr>
          <a:xfrm>
            <a:off x="7120361" y="0"/>
            <a:ext cx="1555826" cy="632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2A34B666-171B-630C-1F27-B98366C6F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46193" y="275650"/>
            <a:ext cx="952006" cy="255210"/>
          </a:xfrm>
          <a:prstGeom prst="rect">
            <a:avLst/>
          </a:prstGeom>
        </p:spPr>
      </p:pic>
      <p:sp>
        <p:nvSpPr>
          <p:cNvPr id="3" name="Google Shape;92;p17">
            <a:extLst>
              <a:ext uri="{FF2B5EF4-FFF2-40B4-BE49-F238E27FC236}">
                <a16:creationId xmlns:a16="http://schemas.microsoft.com/office/drawing/2014/main" id="{CED2B1AD-98D8-6BDE-375E-B8C4F5AA7993}"/>
              </a:ext>
            </a:extLst>
          </p:cNvPr>
          <p:cNvSpPr txBox="1"/>
          <p:nvPr/>
        </p:nvSpPr>
        <p:spPr>
          <a:xfrm>
            <a:off x="106169" y="147661"/>
            <a:ext cx="6373229" cy="48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Narrow"/>
              <a:buNone/>
            </a:pPr>
            <a:r>
              <a:rPr lang="es" sz="3200" b="1">
                <a:solidFill>
                  <a:schemeClr val="bg1"/>
                </a:solidFill>
                <a:highlight>
                  <a:srgbClr val="FF0000"/>
                </a:highlight>
              </a:rPr>
              <a:t>PAQUETES POR CATEGORIAS</a:t>
            </a:r>
            <a:endParaRPr sz="3200" b="1" i="0" u="none" strike="noStrike" cap="none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B6FB4E9-0755-42DF-BD48-870585539BFA}"/>
              </a:ext>
            </a:extLst>
          </p:cNvPr>
          <p:cNvSpPr txBox="1"/>
          <p:nvPr/>
        </p:nvSpPr>
        <p:spPr>
          <a:xfrm>
            <a:off x="1546882" y="1460075"/>
            <a:ext cx="368010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800"/>
              <a:t>Tu marca llega al siguiente nivel: crea una conversación propia en TV, aporta conocimiento, domina la pantalla y lleva ese contenido más allá de la TV, durante 6 meses</a:t>
            </a:r>
            <a:endParaRPr lang="es-CO" sz="800" b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FE9A9971-4494-7A11-7BA0-29A66181E621}"/>
              </a:ext>
            </a:extLst>
          </p:cNvPr>
          <p:cNvSpPr/>
          <p:nvPr/>
        </p:nvSpPr>
        <p:spPr>
          <a:xfrm>
            <a:off x="5874381" y="1420247"/>
            <a:ext cx="2491960" cy="421370"/>
          </a:xfrm>
          <a:prstGeom prst="roundRect">
            <a:avLst/>
          </a:prstGeom>
          <a:solidFill>
            <a:srgbClr val="E8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/>
              <a:t>$ 200.000.000 </a:t>
            </a:r>
            <a:r>
              <a:rPr lang="es-CO" sz="1100" i="1"/>
              <a:t>(Preventa)</a:t>
            </a:r>
            <a:endParaRPr lang="es-CO" i="1"/>
          </a:p>
          <a:p>
            <a:pPr algn="ctr"/>
            <a:r>
              <a:rPr lang="es-CO" sz="1200" b="1"/>
              <a:t>40% </a:t>
            </a:r>
            <a:r>
              <a:rPr lang="es-CO" sz="800" b="1"/>
              <a:t>de descuento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747F8D70-EC08-5C2B-D839-A56D7C2AC6E6}"/>
              </a:ext>
            </a:extLst>
          </p:cNvPr>
          <p:cNvSpPr/>
          <p:nvPr/>
        </p:nvSpPr>
        <p:spPr>
          <a:xfrm>
            <a:off x="5874381" y="961656"/>
            <a:ext cx="2491960" cy="42137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>
                <a:solidFill>
                  <a:schemeClr val="tx1">
                    <a:lumMod val="95000"/>
                    <a:lumOff val="5000"/>
                  </a:schemeClr>
                </a:solidFill>
              </a:rPr>
              <a:t>$ 330.734.160</a:t>
            </a:r>
            <a:endParaRPr lang="es-CO" b="1" i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s-CO" sz="800" b="1" i="1">
                <a:solidFill>
                  <a:schemeClr val="tx1">
                    <a:lumMod val="95000"/>
                    <a:lumOff val="5000"/>
                  </a:schemeClr>
                </a:solidFill>
              </a:rPr>
              <a:t>Valor sin descuentos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B4BC011E-0570-E496-37B2-A9EF8041589C}"/>
              </a:ext>
            </a:extLst>
          </p:cNvPr>
          <p:cNvSpPr txBox="1"/>
          <p:nvPr/>
        </p:nvSpPr>
        <p:spPr>
          <a:xfrm>
            <a:off x="5226983" y="1803929"/>
            <a:ext cx="3154657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s-CO" sz="1100" i="1"/>
              <a:t>+ Impuestos</a:t>
            </a:r>
            <a:endParaRPr lang="es-CO" sz="1100" b="1" i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sp>
        <p:nvSpPr>
          <p:cNvPr id="132" name="Rectángulo: esquinas redondeadas 131">
            <a:extLst>
              <a:ext uri="{FF2B5EF4-FFF2-40B4-BE49-F238E27FC236}">
                <a16:creationId xmlns:a16="http://schemas.microsoft.com/office/drawing/2014/main" id="{00A54C1C-D321-20E5-7393-2420EF541E19}"/>
              </a:ext>
            </a:extLst>
          </p:cNvPr>
          <p:cNvSpPr/>
          <p:nvPr/>
        </p:nvSpPr>
        <p:spPr>
          <a:xfrm>
            <a:off x="328923" y="2433947"/>
            <a:ext cx="98488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088487E0-B66A-0BC3-F527-E8E45D20B111}"/>
              </a:ext>
            </a:extLst>
          </p:cNvPr>
          <p:cNvSpPr/>
          <p:nvPr/>
        </p:nvSpPr>
        <p:spPr>
          <a:xfrm>
            <a:off x="1592054" y="2433947"/>
            <a:ext cx="1324484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4" name="CuadroTexto 5">
            <a:extLst>
              <a:ext uri="{FF2B5EF4-FFF2-40B4-BE49-F238E27FC236}">
                <a16:creationId xmlns:a16="http://schemas.microsoft.com/office/drawing/2014/main" id="{AB0CB384-9901-1DF1-BEC9-3987038D8671}"/>
              </a:ext>
            </a:extLst>
          </p:cNvPr>
          <p:cNvSpPr txBox="1"/>
          <p:nvPr/>
        </p:nvSpPr>
        <p:spPr>
          <a:xfrm>
            <a:off x="204814" y="2526280"/>
            <a:ext cx="12222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Entrevista</a:t>
            </a:r>
          </a:p>
          <a:p>
            <a:r>
              <a:rPr lang="es-ES"/>
              <a:t>NOT RED+</a:t>
            </a:r>
            <a:endParaRPr lang="es-ES" sz="800" b="1"/>
          </a:p>
          <a:p>
            <a:r>
              <a:rPr lang="es-ES" sz="800" b="1"/>
              <a:t>3 entrevistas</a:t>
            </a:r>
            <a:endParaRPr lang="es-ES"/>
          </a:p>
        </p:txBody>
      </p:sp>
      <p:sp>
        <p:nvSpPr>
          <p:cNvPr id="146" name="CuadroTexto 5">
            <a:extLst>
              <a:ext uri="{FF2B5EF4-FFF2-40B4-BE49-F238E27FC236}">
                <a16:creationId xmlns:a16="http://schemas.microsoft.com/office/drawing/2014/main" id="{586C115D-AB26-E541-09DF-126B0B8750EA}"/>
              </a:ext>
            </a:extLst>
          </p:cNvPr>
          <p:cNvSpPr txBox="1"/>
          <p:nvPr/>
        </p:nvSpPr>
        <p:spPr>
          <a:xfrm>
            <a:off x="1591973" y="2464725"/>
            <a:ext cx="136898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Un  Café Claro en el set de la marca </a:t>
            </a:r>
            <a:r>
              <a:rPr lang="es-ES" err="1"/>
              <a:t>Btá</a:t>
            </a:r>
            <a:endParaRPr lang="es-ES"/>
          </a:p>
          <a:p>
            <a:r>
              <a:rPr lang="es-ES" sz="800" b="1"/>
              <a:t>En Vivo</a:t>
            </a:r>
            <a:br>
              <a:rPr lang="es-ES" sz="800" b="1"/>
            </a:br>
            <a:r>
              <a:rPr lang="es-ES" sz="800" b="1"/>
              <a:t>1 Salida</a:t>
            </a:r>
          </a:p>
        </p:txBody>
      </p:sp>
      <p:pic>
        <p:nvPicPr>
          <p:cNvPr id="166" name="Imagen 165">
            <a:extLst>
              <a:ext uri="{FF2B5EF4-FFF2-40B4-BE49-F238E27FC236}">
                <a16:creationId xmlns:a16="http://schemas.microsoft.com/office/drawing/2014/main" id="{F49241DB-27F9-C442-3AA4-BDD5846D39F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42579" y="2705458"/>
            <a:ext cx="164865" cy="164865"/>
          </a:xfrm>
          <a:prstGeom prst="rect">
            <a:avLst/>
          </a:prstGeom>
        </p:spPr>
      </p:pic>
      <p:sp>
        <p:nvSpPr>
          <p:cNvPr id="196" name="CuadroTexto 195">
            <a:extLst>
              <a:ext uri="{FF2B5EF4-FFF2-40B4-BE49-F238E27FC236}">
                <a16:creationId xmlns:a16="http://schemas.microsoft.com/office/drawing/2014/main" id="{40F41C63-0CA2-37A5-421E-B54D6C2B3A07}"/>
              </a:ext>
            </a:extLst>
          </p:cNvPr>
          <p:cNvSpPr txBox="1"/>
          <p:nvPr/>
        </p:nvSpPr>
        <p:spPr>
          <a:xfrm>
            <a:off x="351783" y="2107775"/>
            <a:ext cx="2636947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1. Crea tu historia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088F2FBE-467F-4FB9-DC4A-86D82D7BCB3F}"/>
              </a:ext>
            </a:extLst>
          </p:cNvPr>
          <p:cNvSpPr txBox="1"/>
          <p:nvPr/>
        </p:nvSpPr>
        <p:spPr>
          <a:xfrm>
            <a:off x="385536" y="3875167"/>
            <a:ext cx="113748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SPOTS20 </a:t>
            </a:r>
            <a:r>
              <a:rPr lang="es-ES" err="1"/>
              <a:t>seg</a:t>
            </a:r>
            <a:endParaRPr lang="es-ES"/>
          </a:p>
          <a:p>
            <a:r>
              <a:rPr lang="es-ES"/>
              <a:t>TV RED+/NOT</a:t>
            </a:r>
            <a:endParaRPr lang="es-ES" sz="800" b="1"/>
          </a:p>
          <a:p>
            <a:r>
              <a:rPr lang="es-ES" sz="800" b="1"/>
              <a:t>70 salidas</a:t>
            </a:r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DE1D54A-A809-5751-7D69-ECD18FCDF1D5}"/>
              </a:ext>
            </a:extLst>
          </p:cNvPr>
          <p:cNvSpPr txBox="1"/>
          <p:nvPr/>
        </p:nvSpPr>
        <p:spPr>
          <a:xfrm>
            <a:off x="370252" y="3427508"/>
            <a:ext cx="3823649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3. Domina la pantalla 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D8296FF-D10C-1FCA-8E81-6F430B9C48E5}"/>
              </a:ext>
            </a:extLst>
          </p:cNvPr>
          <p:cNvSpPr/>
          <p:nvPr/>
        </p:nvSpPr>
        <p:spPr>
          <a:xfrm>
            <a:off x="351783" y="3819842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39ACFFA6-4C23-A64D-D6D5-BA00037D6417}"/>
              </a:ext>
            </a:extLst>
          </p:cNvPr>
          <p:cNvSpPr/>
          <p:nvPr/>
        </p:nvSpPr>
        <p:spPr>
          <a:xfrm>
            <a:off x="4681743" y="2452702"/>
            <a:ext cx="1324484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5">
            <a:extLst>
              <a:ext uri="{FF2B5EF4-FFF2-40B4-BE49-F238E27FC236}">
                <a16:creationId xmlns:a16="http://schemas.microsoft.com/office/drawing/2014/main" id="{E1578E31-3CED-229C-7137-37AC8385470B}"/>
              </a:ext>
            </a:extLst>
          </p:cNvPr>
          <p:cNvSpPr txBox="1"/>
          <p:nvPr/>
        </p:nvSpPr>
        <p:spPr>
          <a:xfrm>
            <a:off x="3023619" y="2508027"/>
            <a:ext cx="1459352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Sección patrocinada con contenido</a:t>
            </a:r>
          </a:p>
          <a:p>
            <a:r>
              <a:rPr lang="es-ES"/>
              <a:t>NOT RED+</a:t>
            </a:r>
            <a:endParaRPr lang="es-ES" sz="800" b="1"/>
          </a:p>
          <a:p>
            <a:r>
              <a:rPr lang="es-ES" sz="800" b="1"/>
              <a:t>10 salidas</a:t>
            </a:r>
            <a:endParaRPr lang="es-ES"/>
          </a:p>
        </p:txBody>
      </p:sp>
      <p:sp>
        <p:nvSpPr>
          <p:cNvPr id="31" name="CuadroTexto 5">
            <a:extLst>
              <a:ext uri="{FF2B5EF4-FFF2-40B4-BE49-F238E27FC236}">
                <a16:creationId xmlns:a16="http://schemas.microsoft.com/office/drawing/2014/main" id="{AC370D59-3E0D-10B2-8AEA-AA2E8D54C0C2}"/>
              </a:ext>
            </a:extLst>
          </p:cNvPr>
          <p:cNvSpPr txBox="1"/>
          <p:nvPr/>
        </p:nvSpPr>
        <p:spPr>
          <a:xfrm>
            <a:off x="4681662" y="2483480"/>
            <a:ext cx="1368980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Secciones vivirán en fichas de video en Portal RED+</a:t>
            </a:r>
          </a:p>
          <a:p>
            <a:r>
              <a:rPr lang="es-ES" sz="800" b="1"/>
              <a:t>Impulsadas por Push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3ECDE8B3-A4F5-EFE3-F061-F521C30B012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68364" y="2724213"/>
            <a:ext cx="164865" cy="164865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4FFEE4F8-4953-2B66-F4E2-BEDE5C93B512}"/>
              </a:ext>
            </a:extLst>
          </p:cNvPr>
          <p:cNvSpPr txBox="1"/>
          <p:nvPr/>
        </p:nvSpPr>
        <p:spPr>
          <a:xfrm>
            <a:off x="3092554" y="2126533"/>
            <a:ext cx="5782025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2. Aporta conocimiento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123C975A-4539-7042-8FEF-D3A06C208B52}"/>
              </a:ext>
            </a:extLst>
          </p:cNvPr>
          <p:cNvSpPr/>
          <p:nvPr/>
        </p:nvSpPr>
        <p:spPr>
          <a:xfrm>
            <a:off x="3098149" y="2452702"/>
            <a:ext cx="1323988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6CC78E39-308E-65BA-F794-AA1CB9FBDF2D}"/>
              </a:ext>
            </a:extLst>
          </p:cNvPr>
          <p:cNvSpPr/>
          <p:nvPr/>
        </p:nvSpPr>
        <p:spPr>
          <a:xfrm>
            <a:off x="6326905" y="2470455"/>
            <a:ext cx="1324484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CuadroTexto 5">
            <a:extLst>
              <a:ext uri="{FF2B5EF4-FFF2-40B4-BE49-F238E27FC236}">
                <a16:creationId xmlns:a16="http://schemas.microsoft.com/office/drawing/2014/main" id="{6676D999-5723-85CD-EF44-43BBF61ADA70}"/>
              </a:ext>
            </a:extLst>
          </p:cNvPr>
          <p:cNvSpPr txBox="1"/>
          <p:nvPr/>
        </p:nvSpPr>
        <p:spPr>
          <a:xfrm>
            <a:off x="6326824" y="2501233"/>
            <a:ext cx="136898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Doble página de contenido orgánico</a:t>
            </a:r>
          </a:p>
          <a:p>
            <a:r>
              <a:rPr lang="es-ES" sz="800" b="1"/>
              <a:t>1 salida </a:t>
            </a:r>
          </a:p>
          <a:p>
            <a:r>
              <a:rPr lang="es-ES" sz="800" b="1"/>
              <a:t>REVISTA 15 MINUTOS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7A701B6F-9B9F-AF62-FAA2-6D08919B3D0B}"/>
              </a:ext>
            </a:extLst>
          </p:cNvPr>
          <p:cNvSpPr/>
          <p:nvPr/>
        </p:nvSpPr>
        <p:spPr>
          <a:xfrm>
            <a:off x="7923536" y="2470455"/>
            <a:ext cx="1015650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CuadroTexto 5">
            <a:extLst>
              <a:ext uri="{FF2B5EF4-FFF2-40B4-BE49-F238E27FC236}">
                <a16:creationId xmlns:a16="http://schemas.microsoft.com/office/drawing/2014/main" id="{B2AAD483-EC9B-BA7F-D620-0E73089DB203}"/>
              </a:ext>
            </a:extLst>
          </p:cNvPr>
          <p:cNvSpPr txBox="1"/>
          <p:nvPr/>
        </p:nvSpPr>
        <p:spPr>
          <a:xfrm>
            <a:off x="7923455" y="2501233"/>
            <a:ext cx="106339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Notas de contenido </a:t>
            </a:r>
          </a:p>
          <a:p>
            <a:r>
              <a:rPr lang="es-ES" sz="800" b="1"/>
              <a:t>3 salidas</a:t>
            </a:r>
          </a:p>
          <a:p>
            <a:r>
              <a:rPr lang="es-ES" sz="800" b="1"/>
              <a:t>RED+ NOTICIAS</a:t>
            </a: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E1CFD0E6-1C03-A6C3-D1A6-45D946F77B8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12670" y="2732233"/>
            <a:ext cx="164865" cy="164865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694FF433-D6EC-B335-135F-8D51139D6B7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24905" y="2732229"/>
            <a:ext cx="164865" cy="164865"/>
          </a:xfrm>
          <a:prstGeom prst="rect">
            <a:avLst/>
          </a:prstGeom>
        </p:spPr>
      </p:pic>
      <p:sp>
        <p:nvSpPr>
          <p:cNvPr id="62" name="CuadroTexto 5">
            <a:extLst>
              <a:ext uri="{FF2B5EF4-FFF2-40B4-BE49-F238E27FC236}">
                <a16:creationId xmlns:a16="http://schemas.microsoft.com/office/drawing/2014/main" id="{6F90D450-A3AC-186E-ED88-2F7F1F3AFF0E}"/>
              </a:ext>
            </a:extLst>
          </p:cNvPr>
          <p:cNvSpPr txBox="1"/>
          <p:nvPr/>
        </p:nvSpPr>
        <p:spPr>
          <a:xfrm>
            <a:off x="1559381" y="3927381"/>
            <a:ext cx="135432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Corte Único 10 </a:t>
            </a:r>
            <a:r>
              <a:rPr lang="es-ES" err="1"/>
              <a:t>seg</a:t>
            </a:r>
            <a:endParaRPr lang="es-ES"/>
          </a:p>
          <a:p>
            <a:r>
              <a:rPr lang="es-ES"/>
              <a:t>TV RED+/ NOT</a:t>
            </a:r>
            <a:endParaRPr lang="es-ES" sz="800" b="1"/>
          </a:p>
          <a:p>
            <a:r>
              <a:rPr lang="es-ES" sz="800" b="1"/>
              <a:t>30 salidas</a:t>
            </a:r>
            <a:endParaRPr lang="es-ES"/>
          </a:p>
        </p:txBody>
      </p:sp>
      <p:sp>
        <p:nvSpPr>
          <p:cNvPr id="129" name="Rectángulo: esquinas redondeadas 128">
            <a:extLst>
              <a:ext uri="{FF2B5EF4-FFF2-40B4-BE49-F238E27FC236}">
                <a16:creationId xmlns:a16="http://schemas.microsoft.com/office/drawing/2014/main" id="{70B2EE7C-E61D-DB17-A382-308FBAC0EDFD}"/>
              </a:ext>
            </a:extLst>
          </p:cNvPr>
          <p:cNvSpPr/>
          <p:nvPr/>
        </p:nvSpPr>
        <p:spPr>
          <a:xfrm>
            <a:off x="1682041" y="3835960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3" name="CuadroTexto 5">
            <a:extLst>
              <a:ext uri="{FF2B5EF4-FFF2-40B4-BE49-F238E27FC236}">
                <a16:creationId xmlns:a16="http://schemas.microsoft.com/office/drawing/2014/main" id="{60950FA8-EFDB-DF31-A3CE-A700957C6A17}"/>
              </a:ext>
            </a:extLst>
          </p:cNvPr>
          <p:cNvSpPr txBox="1"/>
          <p:nvPr/>
        </p:nvSpPr>
        <p:spPr>
          <a:xfrm>
            <a:off x="3103868" y="3880837"/>
            <a:ext cx="1137482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err="1"/>
              <a:t>Superimpo</a:t>
            </a:r>
            <a:endParaRPr lang="es-ES"/>
          </a:p>
          <a:p>
            <a:r>
              <a:rPr lang="es-ES"/>
              <a:t>TV RED+/ NOT</a:t>
            </a:r>
          </a:p>
          <a:p>
            <a:r>
              <a:rPr lang="es-ES" sz="700" b="1"/>
              <a:t>20 salidas</a:t>
            </a:r>
            <a:endParaRPr lang="es-ES" sz="800"/>
          </a:p>
          <a:p>
            <a:endParaRPr lang="es-ES" sz="400" b="1"/>
          </a:p>
        </p:txBody>
      </p:sp>
      <p:sp>
        <p:nvSpPr>
          <p:cNvPr id="137" name="Rectángulo: esquinas redondeadas 136">
            <a:extLst>
              <a:ext uri="{FF2B5EF4-FFF2-40B4-BE49-F238E27FC236}">
                <a16:creationId xmlns:a16="http://schemas.microsoft.com/office/drawing/2014/main" id="{2DDD1696-6EBA-A9DA-AD28-B60112DBFCC4}"/>
              </a:ext>
            </a:extLst>
          </p:cNvPr>
          <p:cNvSpPr/>
          <p:nvPr/>
        </p:nvSpPr>
        <p:spPr>
          <a:xfrm>
            <a:off x="3070115" y="3825512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41" name="Imagen 140">
            <a:extLst>
              <a:ext uri="{FF2B5EF4-FFF2-40B4-BE49-F238E27FC236}">
                <a16:creationId xmlns:a16="http://schemas.microsoft.com/office/drawing/2014/main" id="{9C3EAD1B-27BF-5215-5DE0-9A26DF2B77F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94724" y="4091426"/>
            <a:ext cx="164865" cy="164865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588144F7-43FF-F9A4-84C5-3F207C2CDDA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90398" y="4091423"/>
            <a:ext cx="164865" cy="164865"/>
          </a:xfrm>
          <a:prstGeom prst="rect">
            <a:avLst/>
          </a:prstGeom>
        </p:spPr>
      </p:pic>
      <p:sp>
        <p:nvSpPr>
          <p:cNvPr id="149" name="Rectángulo: esquinas redondeadas 148">
            <a:extLst>
              <a:ext uri="{FF2B5EF4-FFF2-40B4-BE49-F238E27FC236}">
                <a16:creationId xmlns:a16="http://schemas.microsoft.com/office/drawing/2014/main" id="{F3614E03-8AF8-F5D7-9023-3379D2BAEB45}"/>
              </a:ext>
            </a:extLst>
          </p:cNvPr>
          <p:cNvSpPr/>
          <p:nvPr/>
        </p:nvSpPr>
        <p:spPr>
          <a:xfrm>
            <a:off x="4752932" y="3823958"/>
            <a:ext cx="94799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3" name="CuadroTexto 5">
            <a:extLst>
              <a:ext uri="{FF2B5EF4-FFF2-40B4-BE49-F238E27FC236}">
                <a16:creationId xmlns:a16="http://schemas.microsoft.com/office/drawing/2014/main" id="{3A5B7C3D-C578-4E67-2017-A2FD9849E3DE}"/>
              </a:ext>
            </a:extLst>
          </p:cNvPr>
          <p:cNvSpPr txBox="1"/>
          <p:nvPr/>
        </p:nvSpPr>
        <p:spPr>
          <a:xfrm>
            <a:off x="4649809" y="3977846"/>
            <a:ext cx="113748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Portal RED +</a:t>
            </a:r>
          </a:p>
          <a:p>
            <a:r>
              <a:rPr lang="es-ES"/>
              <a:t>1 nota web</a:t>
            </a:r>
          </a:p>
        </p:txBody>
      </p:sp>
      <p:sp>
        <p:nvSpPr>
          <p:cNvPr id="157" name="Rectángulo: esquinas redondeadas 156">
            <a:extLst>
              <a:ext uri="{FF2B5EF4-FFF2-40B4-BE49-F238E27FC236}">
                <a16:creationId xmlns:a16="http://schemas.microsoft.com/office/drawing/2014/main" id="{EC31064F-7003-78E0-89CA-31ECCDD3F4B1}"/>
              </a:ext>
            </a:extLst>
          </p:cNvPr>
          <p:cNvSpPr/>
          <p:nvPr/>
        </p:nvSpPr>
        <p:spPr>
          <a:xfrm>
            <a:off x="5960868" y="3823958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1" name="CuadroTexto 5">
            <a:extLst>
              <a:ext uri="{FF2B5EF4-FFF2-40B4-BE49-F238E27FC236}">
                <a16:creationId xmlns:a16="http://schemas.microsoft.com/office/drawing/2014/main" id="{EE1002E6-E58E-83FD-DF08-C2DF69FA59A8}"/>
              </a:ext>
            </a:extLst>
          </p:cNvPr>
          <p:cNvSpPr txBox="1"/>
          <p:nvPr/>
        </p:nvSpPr>
        <p:spPr>
          <a:xfrm>
            <a:off x="5910910" y="3977846"/>
            <a:ext cx="113748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Mensajes RCS</a:t>
            </a:r>
          </a:p>
          <a:p>
            <a:r>
              <a:rPr lang="es-ES"/>
              <a:t>142.011 envíos</a:t>
            </a:r>
          </a:p>
        </p:txBody>
      </p:sp>
      <p:sp>
        <p:nvSpPr>
          <p:cNvPr id="164" name="Rectángulo: esquinas redondeadas 163">
            <a:extLst>
              <a:ext uri="{FF2B5EF4-FFF2-40B4-BE49-F238E27FC236}">
                <a16:creationId xmlns:a16="http://schemas.microsoft.com/office/drawing/2014/main" id="{1772729A-794A-DE0B-CE46-3DF693475776}"/>
              </a:ext>
            </a:extLst>
          </p:cNvPr>
          <p:cNvSpPr/>
          <p:nvPr/>
        </p:nvSpPr>
        <p:spPr>
          <a:xfrm>
            <a:off x="7426058" y="3823958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7" name="CuadroTexto 5">
            <a:extLst>
              <a:ext uri="{FF2B5EF4-FFF2-40B4-BE49-F238E27FC236}">
                <a16:creationId xmlns:a16="http://schemas.microsoft.com/office/drawing/2014/main" id="{6ED0AAF1-463F-00FB-8966-16597871E682}"/>
              </a:ext>
            </a:extLst>
          </p:cNvPr>
          <p:cNvSpPr txBox="1"/>
          <p:nvPr/>
        </p:nvSpPr>
        <p:spPr>
          <a:xfrm>
            <a:off x="7376100" y="3900902"/>
            <a:ext cx="113748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RRSS</a:t>
            </a:r>
          </a:p>
          <a:p>
            <a:r>
              <a:rPr lang="es-ES"/>
              <a:t>Reel Not red+</a:t>
            </a:r>
          </a:p>
          <a:p>
            <a:r>
              <a:rPr lang="es-ES"/>
              <a:t>1 Salida</a:t>
            </a:r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E8A3FCEB-5AB6-47DF-B6ED-B7BE92475DE8}"/>
              </a:ext>
            </a:extLst>
          </p:cNvPr>
          <p:cNvSpPr txBox="1"/>
          <p:nvPr/>
        </p:nvSpPr>
        <p:spPr>
          <a:xfrm>
            <a:off x="4649809" y="3427508"/>
            <a:ext cx="3823649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4. Extiende la conversación</a:t>
            </a:r>
            <a:endParaRPr lang="es-CO" sz="1200" b="1">
              <a:solidFill>
                <a:srgbClr val="C00000"/>
              </a:solidFill>
            </a:endParaRPr>
          </a:p>
        </p:txBody>
      </p:sp>
      <p:pic>
        <p:nvPicPr>
          <p:cNvPr id="175" name="Imagen 174">
            <a:extLst>
              <a:ext uri="{FF2B5EF4-FFF2-40B4-BE49-F238E27FC236}">
                <a16:creationId xmlns:a16="http://schemas.microsoft.com/office/drawing/2014/main" id="{01439A7D-FA59-6EC1-505E-86A5CDF9AB4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65577" y="4095469"/>
            <a:ext cx="164865" cy="164865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C7B20984-8CF1-08B2-08CF-ACE1E2C07FB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90351" y="4095469"/>
            <a:ext cx="164865" cy="164865"/>
          </a:xfrm>
          <a:prstGeom prst="rect">
            <a:avLst/>
          </a:prstGeom>
        </p:spPr>
      </p:pic>
      <p:pic>
        <p:nvPicPr>
          <p:cNvPr id="183" name="Imagen 182">
            <a:extLst>
              <a:ext uri="{FF2B5EF4-FFF2-40B4-BE49-F238E27FC236}">
                <a16:creationId xmlns:a16="http://schemas.microsoft.com/office/drawing/2014/main" id="{CA12B8F1-5040-ADB8-734D-CEFA50A216A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40685" y="4095469"/>
            <a:ext cx="164865" cy="164865"/>
          </a:xfrm>
          <a:prstGeom prst="rect">
            <a:avLst/>
          </a:prstGeom>
        </p:spPr>
      </p:pic>
      <p:pic>
        <p:nvPicPr>
          <p:cNvPr id="185" name="Imagen 184" descr="Icono Elite Ilustraciones Stock, Vectores, Y Clipart ...">
            <a:extLst>
              <a:ext uri="{FF2B5EF4-FFF2-40B4-BE49-F238E27FC236}">
                <a16:creationId xmlns:a16="http://schemas.microsoft.com/office/drawing/2014/main" id="{9E1ADACA-39A5-58EC-04C9-8255B19F26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584" y="875096"/>
            <a:ext cx="947995" cy="947995"/>
          </a:xfrm>
          <a:prstGeom prst="rect">
            <a:avLst/>
          </a:prstGeom>
        </p:spPr>
      </p:pic>
      <p:sp>
        <p:nvSpPr>
          <p:cNvPr id="187" name="CuadroTexto 186">
            <a:extLst>
              <a:ext uri="{FF2B5EF4-FFF2-40B4-BE49-F238E27FC236}">
                <a16:creationId xmlns:a16="http://schemas.microsoft.com/office/drawing/2014/main" id="{49DCB747-62A1-5300-22F4-72397DCFADAA}"/>
              </a:ext>
            </a:extLst>
          </p:cNvPr>
          <p:cNvSpPr txBox="1"/>
          <p:nvPr/>
        </p:nvSpPr>
        <p:spPr>
          <a:xfrm>
            <a:off x="5848729" y="3145746"/>
            <a:ext cx="31546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s-CO" sz="900" i="1"/>
              <a:t>Incluye producción</a:t>
            </a:r>
            <a:endParaRPr lang="es-CO" sz="900" b="1" i="1">
              <a:solidFill>
                <a:schemeClr val="tx1"/>
              </a:solidFill>
              <a:latin typeface="Century Gothic"/>
              <a:cs typeface="Aharoni"/>
            </a:endParaRPr>
          </a:p>
        </p:txBody>
      </p:sp>
    </p:spTree>
    <p:extLst>
      <p:ext uri="{BB962C8B-B14F-4D97-AF65-F5344CB8AC3E}">
        <p14:creationId xmlns:p14="http://schemas.microsoft.com/office/powerpoint/2010/main" val="288463471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74DA9-C0FC-C614-9FC8-9FDF0C97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AD5AD73-0BFE-6D3B-5B06-264AAE00B0E1}"/>
              </a:ext>
            </a:extLst>
          </p:cNvPr>
          <p:cNvSpPr txBox="1"/>
          <p:nvPr/>
        </p:nvSpPr>
        <p:spPr>
          <a:xfrm>
            <a:off x="1546883" y="881693"/>
            <a:ext cx="40357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>
                <a:solidFill>
                  <a:srgbClr val="E8060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ELITE + Investigación</a:t>
            </a:r>
          </a:p>
          <a:p>
            <a:r>
              <a:rPr lang="es-ES" sz="1600" b="1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LLEGA AL SIGUIENTE NIVEL</a:t>
            </a:r>
            <a:endParaRPr lang="es-CO" sz="1800" b="1">
              <a:solidFill>
                <a:schemeClr val="tx1">
                  <a:lumMod val="95000"/>
                  <a:lumOff val="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A6AAA9F-FD1E-D72B-07C2-35B1408C9D68}"/>
              </a:ext>
            </a:extLst>
          </p:cNvPr>
          <p:cNvCxnSpPr>
            <a:cxnSpLocks/>
          </p:cNvCxnSpPr>
          <p:nvPr/>
        </p:nvCxnSpPr>
        <p:spPr>
          <a:xfrm>
            <a:off x="1546883" y="1446360"/>
            <a:ext cx="98235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88;p17" descr="ARO BLANCO.png">
            <a:extLst>
              <a:ext uri="{FF2B5EF4-FFF2-40B4-BE49-F238E27FC236}">
                <a16:creationId xmlns:a16="http://schemas.microsoft.com/office/drawing/2014/main" id="{D38277C1-10E1-8165-AAFE-13980482376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62517"/>
          <a:stretch/>
        </p:blipFill>
        <p:spPr>
          <a:xfrm>
            <a:off x="7120361" y="0"/>
            <a:ext cx="1555826" cy="632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1D345F38-D25B-5FD7-C0B3-21E75DEB65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46193" y="275650"/>
            <a:ext cx="952006" cy="255210"/>
          </a:xfrm>
          <a:prstGeom prst="rect">
            <a:avLst/>
          </a:prstGeom>
        </p:spPr>
      </p:pic>
      <p:sp>
        <p:nvSpPr>
          <p:cNvPr id="3" name="Google Shape;92;p17">
            <a:extLst>
              <a:ext uri="{FF2B5EF4-FFF2-40B4-BE49-F238E27FC236}">
                <a16:creationId xmlns:a16="http://schemas.microsoft.com/office/drawing/2014/main" id="{11A22A2F-ADF4-7284-FABB-BE2732340EBE}"/>
              </a:ext>
            </a:extLst>
          </p:cNvPr>
          <p:cNvSpPr txBox="1"/>
          <p:nvPr/>
        </p:nvSpPr>
        <p:spPr>
          <a:xfrm>
            <a:off x="106169" y="147661"/>
            <a:ext cx="6373229" cy="48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Narrow"/>
              <a:buNone/>
            </a:pPr>
            <a:r>
              <a:rPr lang="es" sz="3200" b="1">
                <a:solidFill>
                  <a:schemeClr val="bg1"/>
                </a:solidFill>
                <a:highlight>
                  <a:srgbClr val="FF0000"/>
                </a:highlight>
              </a:rPr>
              <a:t>PAQUETES POR CATEGORIAS</a:t>
            </a:r>
            <a:endParaRPr sz="3200" b="1" i="0" u="none" strike="noStrike" cap="none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649FA50-35B8-866F-C2B5-E2F9B417CD1C}"/>
              </a:ext>
            </a:extLst>
          </p:cNvPr>
          <p:cNvSpPr txBox="1"/>
          <p:nvPr/>
        </p:nvSpPr>
        <p:spPr>
          <a:xfrm>
            <a:off x="1546882" y="1460075"/>
            <a:ext cx="368010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800"/>
              <a:t>investiga y conoce a tu audiencia, y con tus hallazgos crea una conversación propia en TV, aporta conocimiento, y sé el líder de la categoría.</a:t>
            </a: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386D885D-2571-C2AA-D918-F35D0498EBEE}"/>
              </a:ext>
            </a:extLst>
          </p:cNvPr>
          <p:cNvSpPr/>
          <p:nvPr/>
        </p:nvSpPr>
        <p:spPr>
          <a:xfrm>
            <a:off x="5874381" y="1420247"/>
            <a:ext cx="2491960" cy="421370"/>
          </a:xfrm>
          <a:prstGeom prst="roundRect">
            <a:avLst/>
          </a:prstGeom>
          <a:solidFill>
            <a:srgbClr val="E8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/>
              <a:t>$ 240.000.000 </a:t>
            </a:r>
            <a:r>
              <a:rPr lang="es-CO" sz="1100" i="1"/>
              <a:t>(Preventa)</a:t>
            </a:r>
            <a:endParaRPr lang="es-CO" i="1"/>
          </a:p>
          <a:p>
            <a:pPr algn="ctr"/>
            <a:r>
              <a:rPr lang="es-CO" sz="1200" b="1"/>
              <a:t>36% </a:t>
            </a:r>
            <a:r>
              <a:rPr lang="es-CO" sz="800" b="1"/>
              <a:t>de descuento</a:t>
            </a:r>
            <a:endParaRPr lang="es-CO" sz="800" b="1">
              <a:cs typeface="Arial"/>
            </a:endParaRP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5B63B8E9-21A0-07C8-7941-0959B3731C1E}"/>
              </a:ext>
            </a:extLst>
          </p:cNvPr>
          <p:cNvSpPr/>
          <p:nvPr/>
        </p:nvSpPr>
        <p:spPr>
          <a:xfrm>
            <a:off x="5874381" y="961656"/>
            <a:ext cx="2491960" cy="42137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>
                <a:solidFill>
                  <a:schemeClr val="tx1">
                    <a:lumMod val="95000"/>
                    <a:lumOff val="5000"/>
                  </a:schemeClr>
                </a:solidFill>
              </a:rPr>
              <a:t>$ 336.234.160</a:t>
            </a:r>
            <a:endParaRPr lang="es-CO" b="1" i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s-CO" sz="800" b="1" i="1">
                <a:solidFill>
                  <a:schemeClr val="tx1">
                    <a:lumMod val="95000"/>
                    <a:lumOff val="5000"/>
                  </a:schemeClr>
                </a:solidFill>
              </a:rPr>
              <a:t>Valor sin descuentos</a:t>
            </a:r>
            <a:endParaRPr lang="es-CO" sz="800" b="1" i="1">
              <a:solidFill>
                <a:schemeClr val="tx1">
                  <a:lumMod val="95000"/>
                  <a:lumOff val="5000"/>
                </a:schemeClr>
              </a:solidFill>
              <a:cs typeface="Arial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49B743D-4F3F-846F-152D-81072B8AE7E8}"/>
              </a:ext>
            </a:extLst>
          </p:cNvPr>
          <p:cNvSpPr txBox="1"/>
          <p:nvPr/>
        </p:nvSpPr>
        <p:spPr>
          <a:xfrm>
            <a:off x="5226983" y="1803929"/>
            <a:ext cx="3154657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s-CO" sz="1100" i="1"/>
              <a:t>+ Impuestos</a:t>
            </a:r>
            <a:endParaRPr lang="es-CO" sz="1100" b="1" i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sp>
        <p:nvSpPr>
          <p:cNvPr id="132" name="Rectángulo: esquinas redondeadas 131">
            <a:extLst>
              <a:ext uri="{FF2B5EF4-FFF2-40B4-BE49-F238E27FC236}">
                <a16:creationId xmlns:a16="http://schemas.microsoft.com/office/drawing/2014/main" id="{71C4C6BA-AC2C-F711-496E-C3CED7D21B67}"/>
              </a:ext>
            </a:extLst>
          </p:cNvPr>
          <p:cNvSpPr/>
          <p:nvPr/>
        </p:nvSpPr>
        <p:spPr>
          <a:xfrm>
            <a:off x="328923" y="2866157"/>
            <a:ext cx="98488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7E932DD6-6E92-960D-C4ED-A19EE1D5C9D9}"/>
              </a:ext>
            </a:extLst>
          </p:cNvPr>
          <p:cNvSpPr/>
          <p:nvPr/>
        </p:nvSpPr>
        <p:spPr>
          <a:xfrm>
            <a:off x="1592054" y="2866157"/>
            <a:ext cx="1324484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4" name="CuadroTexto 5">
            <a:extLst>
              <a:ext uri="{FF2B5EF4-FFF2-40B4-BE49-F238E27FC236}">
                <a16:creationId xmlns:a16="http://schemas.microsoft.com/office/drawing/2014/main" id="{4940B4A6-3770-3759-7A15-2E529AA58312}"/>
              </a:ext>
            </a:extLst>
          </p:cNvPr>
          <p:cNvSpPr txBox="1"/>
          <p:nvPr/>
        </p:nvSpPr>
        <p:spPr>
          <a:xfrm>
            <a:off x="204814" y="2958490"/>
            <a:ext cx="12222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Entrevista</a:t>
            </a:r>
          </a:p>
          <a:p>
            <a:r>
              <a:rPr lang="es-ES"/>
              <a:t>NOT RED+</a:t>
            </a:r>
            <a:endParaRPr lang="es-ES" sz="800" b="1"/>
          </a:p>
          <a:p>
            <a:r>
              <a:rPr lang="es-ES" sz="800" b="1"/>
              <a:t>3 entrevistas</a:t>
            </a:r>
            <a:endParaRPr lang="es-ES"/>
          </a:p>
        </p:txBody>
      </p:sp>
      <p:sp>
        <p:nvSpPr>
          <p:cNvPr id="146" name="CuadroTexto 5">
            <a:extLst>
              <a:ext uri="{FF2B5EF4-FFF2-40B4-BE49-F238E27FC236}">
                <a16:creationId xmlns:a16="http://schemas.microsoft.com/office/drawing/2014/main" id="{4113AA6C-5643-2E8B-206F-DB6470E7A14E}"/>
              </a:ext>
            </a:extLst>
          </p:cNvPr>
          <p:cNvSpPr txBox="1"/>
          <p:nvPr/>
        </p:nvSpPr>
        <p:spPr>
          <a:xfrm>
            <a:off x="1591973" y="2896935"/>
            <a:ext cx="136898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Un  Café Claro en el set de la marca </a:t>
            </a:r>
            <a:r>
              <a:rPr lang="es-ES" err="1"/>
              <a:t>Btá</a:t>
            </a:r>
            <a:endParaRPr lang="es-ES"/>
          </a:p>
          <a:p>
            <a:r>
              <a:rPr lang="es-ES" sz="800" b="1"/>
              <a:t>En Vivo</a:t>
            </a:r>
            <a:br>
              <a:rPr lang="es-ES" sz="800" b="1"/>
            </a:br>
            <a:r>
              <a:rPr lang="es-ES" sz="800" b="1"/>
              <a:t>1 Salida</a:t>
            </a:r>
          </a:p>
        </p:txBody>
      </p:sp>
      <p:pic>
        <p:nvPicPr>
          <p:cNvPr id="166" name="Imagen 165">
            <a:extLst>
              <a:ext uri="{FF2B5EF4-FFF2-40B4-BE49-F238E27FC236}">
                <a16:creationId xmlns:a16="http://schemas.microsoft.com/office/drawing/2014/main" id="{29AF4C8A-FF74-A043-B3F6-495416EF89C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42579" y="3137668"/>
            <a:ext cx="164865" cy="164865"/>
          </a:xfrm>
          <a:prstGeom prst="rect">
            <a:avLst/>
          </a:prstGeom>
        </p:spPr>
      </p:pic>
      <p:sp>
        <p:nvSpPr>
          <p:cNvPr id="196" name="CuadroTexto 195">
            <a:extLst>
              <a:ext uri="{FF2B5EF4-FFF2-40B4-BE49-F238E27FC236}">
                <a16:creationId xmlns:a16="http://schemas.microsoft.com/office/drawing/2014/main" id="{52601F0F-F188-85BB-F641-600BDFB2693B}"/>
              </a:ext>
            </a:extLst>
          </p:cNvPr>
          <p:cNvSpPr txBox="1"/>
          <p:nvPr/>
        </p:nvSpPr>
        <p:spPr>
          <a:xfrm>
            <a:off x="351783" y="2539985"/>
            <a:ext cx="2636947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2. Crea tu historia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652AA240-2519-D004-EBFE-D0D34ABF1777}"/>
              </a:ext>
            </a:extLst>
          </p:cNvPr>
          <p:cNvSpPr txBox="1"/>
          <p:nvPr/>
        </p:nvSpPr>
        <p:spPr>
          <a:xfrm>
            <a:off x="385536" y="4289088"/>
            <a:ext cx="113748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SPOTS20 </a:t>
            </a:r>
            <a:r>
              <a:rPr lang="es-ES" err="1"/>
              <a:t>seg</a:t>
            </a:r>
            <a:endParaRPr lang="es-ES"/>
          </a:p>
          <a:p>
            <a:r>
              <a:rPr lang="es-ES"/>
              <a:t>TV RED+/NOT</a:t>
            </a:r>
            <a:endParaRPr lang="es-ES" sz="800" b="1"/>
          </a:p>
          <a:p>
            <a:r>
              <a:rPr lang="es-ES" sz="800" b="1"/>
              <a:t>70 salidas</a:t>
            </a:r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76B9BF8-FB20-C68B-E8A7-AF4D33EC8A5D}"/>
              </a:ext>
            </a:extLst>
          </p:cNvPr>
          <p:cNvSpPr txBox="1"/>
          <p:nvPr/>
        </p:nvSpPr>
        <p:spPr>
          <a:xfrm>
            <a:off x="370252" y="3841429"/>
            <a:ext cx="3823649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4. Domina la pantalla 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12625BD-4BE7-1CCB-7624-5750175B85EC}"/>
              </a:ext>
            </a:extLst>
          </p:cNvPr>
          <p:cNvSpPr/>
          <p:nvPr/>
        </p:nvSpPr>
        <p:spPr>
          <a:xfrm>
            <a:off x="351783" y="4233763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CC7B2996-22C5-3A2E-FDEA-7890696A8AE4}"/>
              </a:ext>
            </a:extLst>
          </p:cNvPr>
          <p:cNvSpPr/>
          <p:nvPr/>
        </p:nvSpPr>
        <p:spPr>
          <a:xfrm>
            <a:off x="4681743" y="2884912"/>
            <a:ext cx="1324484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5">
            <a:extLst>
              <a:ext uri="{FF2B5EF4-FFF2-40B4-BE49-F238E27FC236}">
                <a16:creationId xmlns:a16="http://schemas.microsoft.com/office/drawing/2014/main" id="{2D3072E9-EE0F-6AB8-323B-9A29B5271CF3}"/>
              </a:ext>
            </a:extLst>
          </p:cNvPr>
          <p:cNvSpPr txBox="1"/>
          <p:nvPr/>
        </p:nvSpPr>
        <p:spPr>
          <a:xfrm>
            <a:off x="3023619" y="2940237"/>
            <a:ext cx="1459352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Sección patrocinada con contenido</a:t>
            </a:r>
          </a:p>
          <a:p>
            <a:r>
              <a:rPr lang="es-ES"/>
              <a:t>NOT RED+</a:t>
            </a:r>
            <a:endParaRPr lang="es-ES" sz="800" b="1"/>
          </a:p>
          <a:p>
            <a:r>
              <a:rPr lang="es-ES" sz="800" b="1"/>
              <a:t>10 salidas</a:t>
            </a:r>
            <a:endParaRPr lang="es-ES"/>
          </a:p>
        </p:txBody>
      </p:sp>
      <p:sp>
        <p:nvSpPr>
          <p:cNvPr id="31" name="CuadroTexto 5">
            <a:extLst>
              <a:ext uri="{FF2B5EF4-FFF2-40B4-BE49-F238E27FC236}">
                <a16:creationId xmlns:a16="http://schemas.microsoft.com/office/drawing/2014/main" id="{BD672F75-50F0-5D02-22A7-52EDB0810FB6}"/>
              </a:ext>
            </a:extLst>
          </p:cNvPr>
          <p:cNvSpPr txBox="1"/>
          <p:nvPr/>
        </p:nvSpPr>
        <p:spPr>
          <a:xfrm>
            <a:off x="4681662" y="2915690"/>
            <a:ext cx="1368980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Secciones vivirán en fichas de video en Portal RED+</a:t>
            </a:r>
          </a:p>
          <a:p>
            <a:r>
              <a:rPr lang="es-ES" sz="800" b="1"/>
              <a:t>Impulsadas por Push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D566FDF6-3F08-1D57-2F94-F1E25A03E63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68364" y="3156423"/>
            <a:ext cx="164865" cy="164865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2D3DA708-1D9C-2EFE-77C8-EB3A8B3B83F9}"/>
              </a:ext>
            </a:extLst>
          </p:cNvPr>
          <p:cNvSpPr txBox="1"/>
          <p:nvPr/>
        </p:nvSpPr>
        <p:spPr>
          <a:xfrm>
            <a:off x="3092554" y="2558743"/>
            <a:ext cx="5782025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3. Aporta conocimiento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86630576-A9E3-24FB-738A-665D51EE9FDE}"/>
              </a:ext>
            </a:extLst>
          </p:cNvPr>
          <p:cNvSpPr/>
          <p:nvPr/>
        </p:nvSpPr>
        <p:spPr>
          <a:xfrm>
            <a:off x="3098149" y="2884912"/>
            <a:ext cx="1323988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015A526F-F828-FD32-B3FE-9F03A906B30B}"/>
              </a:ext>
            </a:extLst>
          </p:cNvPr>
          <p:cNvSpPr/>
          <p:nvPr/>
        </p:nvSpPr>
        <p:spPr>
          <a:xfrm>
            <a:off x="6326905" y="2902665"/>
            <a:ext cx="1324484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CuadroTexto 5">
            <a:extLst>
              <a:ext uri="{FF2B5EF4-FFF2-40B4-BE49-F238E27FC236}">
                <a16:creationId xmlns:a16="http://schemas.microsoft.com/office/drawing/2014/main" id="{8F8B175D-072F-9A69-85BD-8002ADE9D3B2}"/>
              </a:ext>
            </a:extLst>
          </p:cNvPr>
          <p:cNvSpPr txBox="1"/>
          <p:nvPr/>
        </p:nvSpPr>
        <p:spPr>
          <a:xfrm>
            <a:off x="6326824" y="2933443"/>
            <a:ext cx="136898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Doble página de contenido orgánico</a:t>
            </a:r>
          </a:p>
          <a:p>
            <a:r>
              <a:rPr lang="es-ES" sz="800" b="1"/>
              <a:t>1 salida </a:t>
            </a:r>
          </a:p>
          <a:p>
            <a:r>
              <a:rPr lang="es-ES" sz="800" b="1"/>
              <a:t>REVISTA 15 MINUTOS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411083C6-3A6A-8B38-6778-449CA11D2172}"/>
              </a:ext>
            </a:extLst>
          </p:cNvPr>
          <p:cNvSpPr/>
          <p:nvPr/>
        </p:nvSpPr>
        <p:spPr>
          <a:xfrm>
            <a:off x="7923536" y="2902665"/>
            <a:ext cx="1015650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CuadroTexto 5">
            <a:extLst>
              <a:ext uri="{FF2B5EF4-FFF2-40B4-BE49-F238E27FC236}">
                <a16:creationId xmlns:a16="http://schemas.microsoft.com/office/drawing/2014/main" id="{1A430E5E-C5B7-65CE-E7B0-B5EA758447FC}"/>
              </a:ext>
            </a:extLst>
          </p:cNvPr>
          <p:cNvSpPr txBox="1"/>
          <p:nvPr/>
        </p:nvSpPr>
        <p:spPr>
          <a:xfrm>
            <a:off x="7923455" y="2933443"/>
            <a:ext cx="106339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Notas de contenido </a:t>
            </a:r>
          </a:p>
          <a:p>
            <a:r>
              <a:rPr lang="es-ES" sz="800" b="1"/>
              <a:t>3 salidas</a:t>
            </a:r>
          </a:p>
          <a:p>
            <a:r>
              <a:rPr lang="es-ES" sz="800" b="1"/>
              <a:t>RED+ NOTICIAS</a:t>
            </a: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7618373C-2485-FB6D-7E9C-4BE5DE1DB7B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12670" y="3164443"/>
            <a:ext cx="164865" cy="164865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610B810A-B133-A074-D60D-5AE63D5A4DE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24905" y="3164439"/>
            <a:ext cx="164865" cy="164865"/>
          </a:xfrm>
          <a:prstGeom prst="rect">
            <a:avLst/>
          </a:prstGeom>
        </p:spPr>
      </p:pic>
      <p:sp>
        <p:nvSpPr>
          <p:cNvPr id="62" name="CuadroTexto 5">
            <a:extLst>
              <a:ext uri="{FF2B5EF4-FFF2-40B4-BE49-F238E27FC236}">
                <a16:creationId xmlns:a16="http://schemas.microsoft.com/office/drawing/2014/main" id="{F6BFAE10-5C0C-BCD4-1212-B83EEFA7EAA8}"/>
              </a:ext>
            </a:extLst>
          </p:cNvPr>
          <p:cNvSpPr txBox="1"/>
          <p:nvPr/>
        </p:nvSpPr>
        <p:spPr>
          <a:xfrm>
            <a:off x="1559381" y="4341302"/>
            <a:ext cx="135432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Corte Único 10 </a:t>
            </a:r>
            <a:r>
              <a:rPr lang="es-ES" err="1"/>
              <a:t>seg</a:t>
            </a:r>
            <a:endParaRPr lang="es-ES"/>
          </a:p>
          <a:p>
            <a:r>
              <a:rPr lang="es-ES"/>
              <a:t>TV RED+/ NOT</a:t>
            </a:r>
            <a:endParaRPr lang="es-ES" sz="800" b="1"/>
          </a:p>
          <a:p>
            <a:r>
              <a:rPr lang="es-ES" sz="800" b="1"/>
              <a:t>30 salidas</a:t>
            </a:r>
            <a:endParaRPr lang="es-ES"/>
          </a:p>
        </p:txBody>
      </p:sp>
      <p:sp>
        <p:nvSpPr>
          <p:cNvPr id="129" name="Rectángulo: esquinas redondeadas 128">
            <a:extLst>
              <a:ext uri="{FF2B5EF4-FFF2-40B4-BE49-F238E27FC236}">
                <a16:creationId xmlns:a16="http://schemas.microsoft.com/office/drawing/2014/main" id="{D08B5E1B-30DE-3781-168A-E45F283029CF}"/>
              </a:ext>
            </a:extLst>
          </p:cNvPr>
          <p:cNvSpPr/>
          <p:nvPr/>
        </p:nvSpPr>
        <p:spPr>
          <a:xfrm>
            <a:off x="1682041" y="4249881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3" name="CuadroTexto 5">
            <a:extLst>
              <a:ext uri="{FF2B5EF4-FFF2-40B4-BE49-F238E27FC236}">
                <a16:creationId xmlns:a16="http://schemas.microsoft.com/office/drawing/2014/main" id="{C53D9C28-8F8B-7FEB-3965-622153AB4AFD}"/>
              </a:ext>
            </a:extLst>
          </p:cNvPr>
          <p:cNvSpPr txBox="1"/>
          <p:nvPr/>
        </p:nvSpPr>
        <p:spPr>
          <a:xfrm>
            <a:off x="3103868" y="4294758"/>
            <a:ext cx="1137482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err="1"/>
              <a:t>Superimpo</a:t>
            </a:r>
            <a:endParaRPr lang="es-ES"/>
          </a:p>
          <a:p>
            <a:r>
              <a:rPr lang="es-ES"/>
              <a:t>TV RED+/ NOT</a:t>
            </a:r>
          </a:p>
          <a:p>
            <a:r>
              <a:rPr lang="es-ES" sz="700" b="1"/>
              <a:t>20 salidas</a:t>
            </a:r>
            <a:endParaRPr lang="es-ES" sz="800"/>
          </a:p>
          <a:p>
            <a:endParaRPr lang="es-ES" sz="400" b="1"/>
          </a:p>
        </p:txBody>
      </p:sp>
      <p:sp>
        <p:nvSpPr>
          <p:cNvPr id="137" name="Rectángulo: esquinas redondeadas 136">
            <a:extLst>
              <a:ext uri="{FF2B5EF4-FFF2-40B4-BE49-F238E27FC236}">
                <a16:creationId xmlns:a16="http://schemas.microsoft.com/office/drawing/2014/main" id="{6ECAC61D-79FF-3C0C-9B8C-0CAA65402930}"/>
              </a:ext>
            </a:extLst>
          </p:cNvPr>
          <p:cNvSpPr/>
          <p:nvPr/>
        </p:nvSpPr>
        <p:spPr>
          <a:xfrm>
            <a:off x="3070115" y="4239433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41" name="Imagen 140">
            <a:extLst>
              <a:ext uri="{FF2B5EF4-FFF2-40B4-BE49-F238E27FC236}">
                <a16:creationId xmlns:a16="http://schemas.microsoft.com/office/drawing/2014/main" id="{F6A6B9D4-235D-7BC2-094A-18E4918EE2D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94724" y="4505347"/>
            <a:ext cx="164865" cy="164865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8C6F4030-6BCA-B3A6-A68F-CDC33461386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90398" y="4505344"/>
            <a:ext cx="164865" cy="164865"/>
          </a:xfrm>
          <a:prstGeom prst="rect">
            <a:avLst/>
          </a:prstGeom>
        </p:spPr>
      </p:pic>
      <p:sp>
        <p:nvSpPr>
          <p:cNvPr id="149" name="Rectángulo: esquinas redondeadas 148">
            <a:extLst>
              <a:ext uri="{FF2B5EF4-FFF2-40B4-BE49-F238E27FC236}">
                <a16:creationId xmlns:a16="http://schemas.microsoft.com/office/drawing/2014/main" id="{E253E4FA-AD3F-0E00-84E6-6C8B9DD2565E}"/>
              </a:ext>
            </a:extLst>
          </p:cNvPr>
          <p:cNvSpPr/>
          <p:nvPr/>
        </p:nvSpPr>
        <p:spPr>
          <a:xfrm>
            <a:off x="4752932" y="4237879"/>
            <a:ext cx="94799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3" name="CuadroTexto 5">
            <a:extLst>
              <a:ext uri="{FF2B5EF4-FFF2-40B4-BE49-F238E27FC236}">
                <a16:creationId xmlns:a16="http://schemas.microsoft.com/office/drawing/2014/main" id="{D1FD1CC7-0E6E-9F7D-038A-111970DA17F3}"/>
              </a:ext>
            </a:extLst>
          </p:cNvPr>
          <p:cNvSpPr txBox="1"/>
          <p:nvPr/>
        </p:nvSpPr>
        <p:spPr>
          <a:xfrm>
            <a:off x="4649809" y="4391767"/>
            <a:ext cx="113748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Portal RED +</a:t>
            </a:r>
          </a:p>
          <a:p>
            <a:r>
              <a:rPr lang="es-ES"/>
              <a:t>1 nota web</a:t>
            </a:r>
          </a:p>
        </p:txBody>
      </p:sp>
      <p:sp>
        <p:nvSpPr>
          <p:cNvPr id="157" name="Rectángulo: esquinas redondeadas 156">
            <a:extLst>
              <a:ext uri="{FF2B5EF4-FFF2-40B4-BE49-F238E27FC236}">
                <a16:creationId xmlns:a16="http://schemas.microsoft.com/office/drawing/2014/main" id="{430FCE65-6085-41D6-0E42-F18BC738BF77}"/>
              </a:ext>
            </a:extLst>
          </p:cNvPr>
          <p:cNvSpPr/>
          <p:nvPr/>
        </p:nvSpPr>
        <p:spPr>
          <a:xfrm>
            <a:off x="5960868" y="4237879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1" name="CuadroTexto 5">
            <a:extLst>
              <a:ext uri="{FF2B5EF4-FFF2-40B4-BE49-F238E27FC236}">
                <a16:creationId xmlns:a16="http://schemas.microsoft.com/office/drawing/2014/main" id="{0B598251-1157-C949-49B6-B6AF7757C753}"/>
              </a:ext>
            </a:extLst>
          </p:cNvPr>
          <p:cNvSpPr txBox="1"/>
          <p:nvPr/>
        </p:nvSpPr>
        <p:spPr>
          <a:xfrm>
            <a:off x="5910910" y="4391767"/>
            <a:ext cx="113748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Mensajes RCS</a:t>
            </a:r>
          </a:p>
          <a:p>
            <a:r>
              <a:rPr lang="es-ES"/>
              <a:t>142.011 envíos</a:t>
            </a:r>
          </a:p>
        </p:txBody>
      </p:sp>
      <p:sp>
        <p:nvSpPr>
          <p:cNvPr id="164" name="Rectángulo: esquinas redondeadas 163">
            <a:extLst>
              <a:ext uri="{FF2B5EF4-FFF2-40B4-BE49-F238E27FC236}">
                <a16:creationId xmlns:a16="http://schemas.microsoft.com/office/drawing/2014/main" id="{8456D591-7C9C-C946-4BCC-CA80E30BE684}"/>
              </a:ext>
            </a:extLst>
          </p:cNvPr>
          <p:cNvSpPr/>
          <p:nvPr/>
        </p:nvSpPr>
        <p:spPr>
          <a:xfrm>
            <a:off x="7426058" y="4237879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7" name="CuadroTexto 5">
            <a:extLst>
              <a:ext uri="{FF2B5EF4-FFF2-40B4-BE49-F238E27FC236}">
                <a16:creationId xmlns:a16="http://schemas.microsoft.com/office/drawing/2014/main" id="{4A027E04-51B2-E4A5-90FD-13F4D66C0A7A}"/>
              </a:ext>
            </a:extLst>
          </p:cNvPr>
          <p:cNvSpPr txBox="1"/>
          <p:nvPr/>
        </p:nvSpPr>
        <p:spPr>
          <a:xfrm>
            <a:off x="7376100" y="4314823"/>
            <a:ext cx="113748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RRSS</a:t>
            </a:r>
          </a:p>
          <a:p>
            <a:r>
              <a:rPr lang="es-ES"/>
              <a:t>Reel Not red+</a:t>
            </a:r>
          </a:p>
          <a:p>
            <a:r>
              <a:rPr lang="es-ES"/>
              <a:t>1 Salida</a:t>
            </a:r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0ECFBD75-E877-FE90-75FA-143627789F32}"/>
              </a:ext>
            </a:extLst>
          </p:cNvPr>
          <p:cNvSpPr txBox="1"/>
          <p:nvPr/>
        </p:nvSpPr>
        <p:spPr>
          <a:xfrm>
            <a:off x="4649809" y="3841429"/>
            <a:ext cx="3823649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5. Extiende la conversación</a:t>
            </a:r>
            <a:endParaRPr lang="es-CO" sz="1200" b="1">
              <a:solidFill>
                <a:srgbClr val="C00000"/>
              </a:solidFill>
            </a:endParaRPr>
          </a:p>
        </p:txBody>
      </p:sp>
      <p:pic>
        <p:nvPicPr>
          <p:cNvPr id="175" name="Imagen 174">
            <a:extLst>
              <a:ext uri="{FF2B5EF4-FFF2-40B4-BE49-F238E27FC236}">
                <a16:creationId xmlns:a16="http://schemas.microsoft.com/office/drawing/2014/main" id="{75F61F5F-4E2E-901B-7956-C0A9FFA9425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65577" y="4509390"/>
            <a:ext cx="164865" cy="164865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753E34A3-B33B-7A33-AB66-BB9FF1A3FBD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90351" y="4509390"/>
            <a:ext cx="164865" cy="164865"/>
          </a:xfrm>
          <a:prstGeom prst="rect">
            <a:avLst/>
          </a:prstGeom>
        </p:spPr>
      </p:pic>
      <p:pic>
        <p:nvPicPr>
          <p:cNvPr id="183" name="Imagen 182">
            <a:extLst>
              <a:ext uri="{FF2B5EF4-FFF2-40B4-BE49-F238E27FC236}">
                <a16:creationId xmlns:a16="http://schemas.microsoft.com/office/drawing/2014/main" id="{F491259A-50E6-EE5D-9141-D9998F16872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40685" y="4509390"/>
            <a:ext cx="164865" cy="164865"/>
          </a:xfrm>
          <a:prstGeom prst="rect">
            <a:avLst/>
          </a:prstGeom>
        </p:spPr>
      </p:pic>
      <p:pic>
        <p:nvPicPr>
          <p:cNvPr id="185" name="Imagen 184" descr="Icono Elite Ilustraciones Stock, Vectores, Y Clipart ...">
            <a:extLst>
              <a:ext uri="{FF2B5EF4-FFF2-40B4-BE49-F238E27FC236}">
                <a16:creationId xmlns:a16="http://schemas.microsoft.com/office/drawing/2014/main" id="{324038CD-8CF4-A554-63EF-7835CBA81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584" y="875096"/>
            <a:ext cx="947995" cy="947995"/>
          </a:xfrm>
          <a:prstGeom prst="rect">
            <a:avLst/>
          </a:prstGeom>
        </p:spPr>
      </p:pic>
      <p:sp>
        <p:nvSpPr>
          <p:cNvPr id="187" name="CuadroTexto 186">
            <a:extLst>
              <a:ext uri="{FF2B5EF4-FFF2-40B4-BE49-F238E27FC236}">
                <a16:creationId xmlns:a16="http://schemas.microsoft.com/office/drawing/2014/main" id="{FC224824-8865-DFDB-A9A1-5C033E1F5D90}"/>
              </a:ext>
            </a:extLst>
          </p:cNvPr>
          <p:cNvSpPr txBox="1"/>
          <p:nvPr/>
        </p:nvSpPr>
        <p:spPr>
          <a:xfrm>
            <a:off x="5848729" y="3568885"/>
            <a:ext cx="3154657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s-CO" sz="900" i="1"/>
              <a:t>Incluye producción</a:t>
            </a:r>
            <a:endParaRPr lang="es-CO" sz="900" b="1" i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sp>
        <p:nvSpPr>
          <p:cNvPr id="4" name="CuadroTexto 195">
            <a:extLst>
              <a:ext uri="{FF2B5EF4-FFF2-40B4-BE49-F238E27FC236}">
                <a16:creationId xmlns:a16="http://schemas.microsoft.com/office/drawing/2014/main" id="{95E01E1D-9980-F8EA-5F09-69F5B139FA5E}"/>
              </a:ext>
            </a:extLst>
          </p:cNvPr>
          <p:cNvSpPr txBox="1"/>
          <p:nvPr/>
        </p:nvSpPr>
        <p:spPr>
          <a:xfrm>
            <a:off x="397871" y="2094435"/>
            <a:ext cx="2636947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1. Conoce tu audiencia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5" name="CuadroTexto 5">
            <a:extLst>
              <a:ext uri="{FF2B5EF4-FFF2-40B4-BE49-F238E27FC236}">
                <a16:creationId xmlns:a16="http://schemas.microsoft.com/office/drawing/2014/main" id="{2ADC6831-EC7E-DC2C-93C8-9C7A7473052B}"/>
              </a:ext>
            </a:extLst>
          </p:cNvPr>
          <p:cNvSpPr txBox="1"/>
          <p:nvPr/>
        </p:nvSpPr>
        <p:spPr>
          <a:xfrm>
            <a:off x="3016224" y="1971971"/>
            <a:ext cx="12222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Analítica geo espacial</a:t>
            </a:r>
            <a:endParaRPr lang="en-US"/>
          </a:p>
          <a:p>
            <a:r>
              <a:rPr lang="es-ES" sz="800" b="1"/>
              <a:t>Interés - por punto</a:t>
            </a:r>
          </a:p>
        </p:txBody>
      </p:sp>
      <p:pic>
        <p:nvPicPr>
          <p:cNvPr id="6" name="Imagen 165">
            <a:extLst>
              <a:ext uri="{FF2B5EF4-FFF2-40B4-BE49-F238E27FC236}">
                <a16:creationId xmlns:a16="http://schemas.microsoft.com/office/drawing/2014/main" id="{49743463-1497-8718-2E00-1E1F4ECCF99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10690" y="2153400"/>
            <a:ext cx="164865" cy="164865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0EE5BAD0-6C30-03BC-78D1-9525B3EBE6A8}"/>
              </a:ext>
            </a:extLst>
          </p:cNvPr>
          <p:cNvSpPr txBox="1"/>
          <p:nvPr/>
        </p:nvSpPr>
        <p:spPr>
          <a:xfrm>
            <a:off x="4656981" y="2003721"/>
            <a:ext cx="12222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800"/>
              <a:t>Sondeos 1 Variable segmentación</a:t>
            </a:r>
            <a:endParaRPr lang="en-US"/>
          </a:p>
          <a:p>
            <a:r>
              <a:rPr lang="es-ES" sz="800" b="1"/>
              <a:t>1.000 Respuestas </a:t>
            </a:r>
          </a:p>
        </p:txBody>
      </p:sp>
      <p:sp>
        <p:nvSpPr>
          <p:cNvPr id="8" name="Rectángulo: esquinas redondeadas 36">
            <a:extLst>
              <a:ext uri="{FF2B5EF4-FFF2-40B4-BE49-F238E27FC236}">
                <a16:creationId xmlns:a16="http://schemas.microsoft.com/office/drawing/2014/main" id="{CA72D04C-5FEB-9753-9CC0-24A993548A22}"/>
              </a:ext>
            </a:extLst>
          </p:cNvPr>
          <p:cNvSpPr/>
          <p:nvPr/>
        </p:nvSpPr>
        <p:spPr>
          <a:xfrm>
            <a:off x="3107366" y="1953828"/>
            <a:ext cx="1075109" cy="560401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36">
            <a:extLst>
              <a:ext uri="{FF2B5EF4-FFF2-40B4-BE49-F238E27FC236}">
                <a16:creationId xmlns:a16="http://schemas.microsoft.com/office/drawing/2014/main" id="{92258A2D-7E40-73CC-6608-583F66EFB5CF}"/>
              </a:ext>
            </a:extLst>
          </p:cNvPr>
          <p:cNvSpPr/>
          <p:nvPr/>
        </p:nvSpPr>
        <p:spPr>
          <a:xfrm>
            <a:off x="4729688" y="1953828"/>
            <a:ext cx="1075109" cy="560401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89001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F22A-73E5-CE59-251E-A5F831BA4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7F6BE4-150A-5750-3955-3261AF61FF72}"/>
              </a:ext>
            </a:extLst>
          </p:cNvPr>
          <p:cNvSpPr txBox="1"/>
          <p:nvPr/>
        </p:nvSpPr>
        <p:spPr>
          <a:xfrm>
            <a:off x="1546883" y="881693"/>
            <a:ext cx="40357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>
                <a:solidFill>
                  <a:srgbClr val="E8060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CONNECT (más cerca)</a:t>
            </a:r>
          </a:p>
          <a:p>
            <a:r>
              <a:rPr lang="es-ES" sz="1600" b="1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ACERCA A TU MARCA</a:t>
            </a:r>
            <a:endParaRPr lang="es-CO" sz="1800" b="1">
              <a:solidFill>
                <a:schemeClr val="tx1">
                  <a:lumMod val="95000"/>
                  <a:lumOff val="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2D776BB-2ADC-3C2D-8E7C-F325A09A9186}"/>
              </a:ext>
            </a:extLst>
          </p:cNvPr>
          <p:cNvCxnSpPr>
            <a:cxnSpLocks/>
          </p:cNvCxnSpPr>
          <p:nvPr/>
        </p:nvCxnSpPr>
        <p:spPr>
          <a:xfrm>
            <a:off x="1546883" y="1446360"/>
            <a:ext cx="98235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88;p17" descr="ARO BLANCO.png">
            <a:extLst>
              <a:ext uri="{FF2B5EF4-FFF2-40B4-BE49-F238E27FC236}">
                <a16:creationId xmlns:a16="http://schemas.microsoft.com/office/drawing/2014/main" id="{F660E547-2178-6ADF-F9F3-811B7B9DD76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62517"/>
          <a:stretch/>
        </p:blipFill>
        <p:spPr>
          <a:xfrm>
            <a:off x="7120361" y="0"/>
            <a:ext cx="1555826" cy="632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14EB7108-CA09-B62D-EF4E-41C520855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46193" y="275650"/>
            <a:ext cx="952006" cy="255210"/>
          </a:xfrm>
          <a:prstGeom prst="rect">
            <a:avLst/>
          </a:prstGeom>
        </p:spPr>
      </p:pic>
      <p:sp>
        <p:nvSpPr>
          <p:cNvPr id="3" name="Google Shape;92;p17">
            <a:extLst>
              <a:ext uri="{FF2B5EF4-FFF2-40B4-BE49-F238E27FC236}">
                <a16:creationId xmlns:a16="http://schemas.microsoft.com/office/drawing/2014/main" id="{A5A8E542-7140-0407-DBC9-F8842952ED91}"/>
              </a:ext>
            </a:extLst>
          </p:cNvPr>
          <p:cNvSpPr txBox="1"/>
          <p:nvPr/>
        </p:nvSpPr>
        <p:spPr>
          <a:xfrm>
            <a:off x="106169" y="147661"/>
            <a:ext cx="6373229" cy="48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Narrow"/>
              <a:buNone/>
            </a:pPr>
            <a:r>
              <a:rPr lang="es" sz="3200" b="1">
                <a:solidFill>
                  <a:schemeClr val="bg1"/>
                </a:solidFill>
                <a:highlight>
                  <a:srgbClr val="FF0000"/>
                </a:highlight>
              </a:rPr>
              <a:t>PAQUETES POR CATEGORIAS</a:t>
            </a:r>
            <a:endParaRPr sz="3200" b="1" i="0" u="none" strike="noStrike" cap="none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4844AAB-4582-525C-E09E-3D4FB082A168}"/>
              </a:ext>
            </a:extLst>
          </p:cNvPr>
          <p:cNvSpPr txBox="1"/>
          <p:nvPr/>
        </p:nvSpPr>
        <p:spPr>
          <a:xfrm>
            <a:off x="1546882" y="1460075"/>
            <a:ext cx="368010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800"/>
              <a:t>Genera interés en audiencias relevantes y llévalas a descubrir más sobre tu marca a través de contenidos y formatos que impulsan la interacción.</a:t>
            </a:r>
            <a:endParaRPr lang="es-CO" sz="800" b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684D457F-ED43-2DBF-4C08-36894F625587}"/>
              </a:ext>
            </a:extLst>
          </p:cNvPr>
          <p:cNvSpPr/>
          <p:nvPr/>
        </p:nvSpPr>
        <p:spPr>
          <a:xfrm>
            <a:off x="5874381" y="1420247"/>
            <a:ext cx="2491960" cy="421370"/>
          </a:xfrm>
          <a:prstGeom prst="roundRect">
            <a:avLst/>
          </a:prstGeom>
          <a:solidFill>
            <a:srgbClr val="E8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/>
              <a:t>$ 150.000.000 </a:t>
            </a:r>
            <a:r>
              <a:rPr lang="es-CO" sz="1100" i="1"/>
              <a:t>(Preventa)</a:t>
            </a:r>
            <a:endParaRPr lang="es-CO" i="1"/>
          </a:p>
          <a:p>
            <a:pPr algn="ctr"/>
            <a:r>
              <a:rPr lang="es-CO" sz="1200" b="1"/>
              <a:t>5% </a:t>
            </a:r>
            <a:r>
              <a:rPr lang="es-CO" sz="800" b="1"/>
              <a:t>de descuento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F08EB829-3A38-1146-98EB-70995CCCBF8C}"/>
              </a:ext>
            </a:extLst>
          </p:cNvPr>
          <p:cNvSpPr/>
          <p:nvPr/>
        </p:nvSpPr>
        <p:spPr>
          <a:xfrm>
            <a:off x="5874381" y="961656"/>
            <a:ext cx="2491960" cy="42137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>
                <a:solidFill>
                  <a:schemeClr val="tx1">
                    <a:lumMod val="95000"/>
                    <a:lumOff val="5000"/>
                  </a:schemeClr>
                </a:solidFill>
              </a:rPr>
              <a:t>$ 157.560.000</a:t>
            </a:r>
            <a:endParaRPr lang="es-CO" b="1" i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s-CO" sz="800" b="1" i="1">
                <a:solidFill>
                  <a:schemeClr val="tx1">
                    <a:lumMod val="95000"/>
                    <a:lumOff val="5000"/>
                  </a:schemeClr>
                </a:solidFill>
              </a:rPr>
              <a:t>Valor sin descuentos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BD9D63E8-0E22-89B5-247D-00027BEF8F0A}"/>
              </a:ext>
            </a:extLst>
          </p:cNvPr>
          <p:cNvSpPr txBox="1"/>
          <p:nvPr/>
        </p:nvSpPr>
        <p:spPr>
          <a:xfrm>
            <a:off x="5226983" y="1803929"/>
            <a:ext cx="3154657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s-CO" sz="1100" i="1"/>
              <a:t>+ Impuestos</a:t>
            </a:r>
            <a:endParaRPr lang="es-CO" sz="1100" b="1" i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sp>
        <p:nvSpPr>
          <p:cNvPr id="132" name="Rectángulo: esquinas redondeadas 131">
            <a:extLst>
              <a:ext uri="{FF2B5EF4-FFF2-40B4-BE49-F238E27FC236}">
                <a16:creationId xmlns:a16="http://schemas.microsoft.com/office/drawing/2014/main" id="{1D8E8723-7DA0-ADBD-FC59-0F0FF1983311}"/>
              </a:ext>
            </a:extLst>
          </p:cNvPr>
          <p:cNvSpPr/>
          <p:nvPr/>
        </p:nvSpPr>
        <p:spPr>
          <a:xfrm>
            <a:off x="1679258" y="2625327"/>
            <a:ext cx="98488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6C56A397-6CAC-F588-038C-A3090F57E775}"/>
              </a:ext>
            </a:extLst>
          </p:cNvPr>
          <p:cNvSpPr/>
          <p:nvPr/>
        </p:nvSpPr>
        <p:spPr>
          <a:xfrm>
            <a:off x="2942389" y="2625327"/>
            <a:ext cx="1324484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4" name="CuadroTexto 5">
            <a:extLst>
              <a:ext uri="{FF2B5EF4-FFF2-40B4-BE49-F238E27FC236}">
                <a16:creationId xmlns:a16="http://schemas.microsoft.com/office/drawing/2014/main" id="{5DE5FCF9-4F75-0CA4-D1E5-584356C8E9CE}"/>
              </a:ext>
            </a:extLst>
          </p:cNvPr>
          <p:cNvSpPr txBox="1"/>
          <p:nvPr/>
        </p:nvSpPr>
        <p:spPr>
          <a:xfrm>
            <a:off x="1555149" y="2717660"/>
            <a:ext cx="12222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Post META</a:t>
            </a:r>
          </a:p>
          <a:p>
            <a:r>
              <a:rPr lang="es-ES" err="1"/>
              <a:t>Programmatic</a:t>
            </a:r>
            <a:endParaRPr lang="es-ES" sz="800" b="1"/>
          </a:p>
          <a:p>
            <a:r>
              <a:rPr lang="es-ES" sz="800" b="1"/>
              <a:t>21.007 clics</a:t>
            </a:r>
            <a:endParaRPr lang="es-ES"/>
          </a:p>
        </p:txBody>
      </p:sp>
      <p:sp>
        <p:nvSpPr>
          <p:cNvPr id="146" name="CuadroTexto 5">
            <a:extLst>
              <a:ext uri="{FF2B5EF4-FFF2-40B4-BE49-F238E27FC236}">
                <a16:creationId xmlns:a16="http://schemas.microsoft.com/office/drawing/2014/main" id="{084B6CEE-45DD-7559-107E-9B8C8D337226}"/>
              </a:ext>
            </a:extLst>
          </p:cNvPr>
          <p:cNvSpPr txBox="1"/>
          <p:nvPr/>
        </p:nvSpPr>
        <p:spPr>
          <a:xfrm>
            <a:off x="2942308" y="2730536"/>
            <a:ext cx="136898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Post TIK TOK</a:t>
            </a:r>
          </a:p>
          <a:p>
            <a:r>
              <a:rPr lang="es-ES" err="1"/>
              <a:t>Programmatic</a:t>
            </a:r>
            <a:endParaRPr lang="es-ES"/>
          </a:p>
          <a:p>
            <a:r>
              <a:rPr lang="es-ES"/>
              <a:t>21.907 clics</a:t>
            </a:r>
          </a:p>
          <a:p>
            <a:endParaRPr lang="es-ES"/>
          </a:p>
        </p:txBody>
      </p:sp>
      <p:pic>
        <p:nvPicPr>
          <p:cNvPr id="166" name="Imagen 165">
            <a:extLst>
              <a:ext uri="{FF2B5EF4-FFF2-40B4-BE49-F238E27FC236}">
                <a16:creationId xmlns:a16="http://schemas.microsoft.com/office/drawing/2014/main" id="{987D137F-1473-4545-1D86-F5A2079E881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92914" y="2896838"/>
            <a:ext cx="164865" cy="164865"/>
          </a:xfrm>
          <a:prstGeom prst="rect">
            <a:avLst/>
          </a:prstGeom>
        </p:spPr>
      </p:pic>
      <p:sp>
        <p:nvSpPr>
          <p:cNvPr id="196" name="CuadroTexto 195">
            <a:extLst>
              <a:ext uri="{FF2B5EF4-FFF2-40B4-BE49-F238E27FC236}">
                <a16:creationId xmlns:a16="http://schemas.microsoft.com/office/drawing/2014/main" id="{6087B597-2751-AA86-BBD1-7FD5DFFCB52F}"/>
              </a:ext>
            </a:extLst>
          </p:cNvPr>
          <p:cNvSpPr txBox="1"/>
          <p:nvPr/>
        </p:nvSpPr>
        <p:spPr>
          <a:xfrm>
            <a:off x="1702118" y="2308534"/>
            <a:ext cx="2636947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1. Genera interacción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8C7E1573-A240-9779-4AA0-56F5010A14BF}"/>
              </a:ext>
            </a:extLst>
          </p:cNvPr>
          <p:cNvSpPr txBox="1"/>
          <p:nvPr/>
        </p:nvSpPr>
        <p:spPr>
          <a:xfrm>
            <a:off x="1523221" y="4066547"/>
            <a:ext cx="113748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Tráfico Calificado</a:t>
            </a:r>
            <a:endParaRPr lang="es-ES" sz="800" b="1"/>
          </a:p>
          <a:p>
            <a:r>
              <a:rPr lang="es-ES" sz="800" b="1"/>
              <a:t>45.000 clics</a:t>
            </a:r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D45D440-2377-C256-6DF0-002AE3FED597}"/>
              </a:ext>
            </a:extLst>
          </p:cNvPr>
          <p:cNvSpPr txBox="1"/>
          <p:nvPr/>
        </p:nvSpPr>
        <p:spPr>
          <a:xfrm>
            <a:off x="1507938" y="3618888"/>
            <a:ext cx="3273332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3. Acerca a la decisión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1BFABB3-BDFC-AEA9-B232-7CF8A95DCCA3}"/>
              </a:ext>
            </a:extLst>
          </p:cNvPr>
          <p:cNvSpPr/>
          <p:nvPr/>
        </p:nvSpPr>
        <p:spPr>
          <a:xfrm>
            <a:off x="1489468" y="4011222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1B0412D2-FCA7-E7A6-60EC-ADF45122701B}"/>
              </a:ext>
            </a:extLst>
          </p:cNvPr>
          <p:cNvSpPr/>
          <p:nvPr/>
        </p:nvSpPr>
        <p:spPr>
          <a:xfrm>
            <a:off x="6712566" y="2644082"/>
            <a:ext cx="1324484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CuadroTexto 5">
            <a:extLst>
              <a:ext uri="{FF2B5EF4-FFF2-40B4-BE49-F238E27FC236}">
                <a16:creationId xmlns:a16="http://schemas.microsoft.com/office/drawing/2014/main" id="{EB6F7CAA-008F-793D-30C6-572B6207A82B}"/>
              </a:ext>
            </a:extLst>
          </p:cNvPr>
          <p:cNvSpPr txBox="1"/>
          <p:nvPr/>
        </p:nvSpPr>
        <p:spPr>
          <a:xfrm>
            <a:off x="5054442" y="2699407"/>
            <a:ext cx="1459352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err="1"/>
              <a:t>Display</a:t>
            </a:r>
            <a:endParaRPr lang="es-ES"/>
          </a:p>
          <a:p>
            <a:r>
              <a:rPr lang="es-ES" sz="800" b="1" err="1"/>
              <a:t>Programmatic</a:t>
            </a:r>
            <a:endParaRPr lang="es-ES" sz="800" b="1"/>
          </a:p>
          <a:p>
            <a:r>
              <a:rPr lang="es-ES" sz="800" b="1"/>
              <a:t>7.414 clics</a:t>
            </a:r>
            <a:endParaRPr lang="es-ES"/>
          </a:p>
        </p:txBody>
      </p:sp>
      <p:sp>
        <p:nvSpPr>
          <p:cNvPr id="31" name="CuadroTexto 5">
            <a:extLst>
              <a:ext uri="{FF2B5EF4-FFF2-40B4-BE49-F238E27FC236}">
                <a16:creationId xmlns:a16="http://schemas.microsoft.com/office/drawing/2014/main" id="{8045957F-6C14-7228-A2D1-8A845E094F84}"/>
              </a:ext>
            </a:extLst>
          </p:cNvPr>
          <p:cNvSpPr txBox="1"/>
          <p:nvPr/>
        </p:nvSpPr>
        <p:spPr>
          <a:xfrm>
            <a:off x="6712485" y="2813089"/>
            <a:ext cx="13689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Push multimedia</a:t>
            </a:r>
          </a:p>
          <a:p>
            <a:r>
              <a:rPr lang="es-ES" sz="800" b="1"/>
              <a:t>12.389 Clics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AA8B058B-22BF-C394-4413-57715540853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99187" y="2915593"/>
            <a:ext cx="164865" cy="164865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616AF212-CC3E-77A1-8320-B8F0FF77AF2D}"/>
              </a:ext>
            </a:extLst>
          </p:cNvPr>
          <p:cNvSpPr txBox="1"/>
          <p:nvPr/>
        </p:nvSpPr>
        <p:spPr>
          <a:xfrm>
            <a:off x="5123378" y="2308534"/>
            <a:ext cx="2862662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2. Impulsamos el clic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B3321505-6AAE-2EC0-8EDE-C295EDDF6AA3}"/>
              </a:ext>
            </a:extLst>
          </p:cNvPr>
          <p:cNvSpPr/>
          <p:nvPr/>
        </p:nvSpPr>
        <p:spPr>
          <a:xfrm>
            <a:off x="5128972" y="2644082"/>
            <a:ext cx="1323988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" name="CuadroTexto 5">
            <a:extLst>
              <a:ext uri="{FF2B5EF4-FFF2-40B4-BE49-F238E27FC236}">
                <a16:creationId xmlns:a16="http://schemas.microsoft.com/office/drawing/2014/main" id="{2D890451-61B7-3560-7E0F-D650413B1860}"/>
              </a:ext>
            </a:extLst>
          </p:cNvPr>
          <p:cNvSpPr txBox="1"/>
          <p:nvPr/>
        </p:nvSpPr>
        <p:spPr>
          <a:xfrm>
            <a:off x="3611466" y="4118761"/>
            <a:ext cx="1354321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Precargas virtuales</a:t>
            </a:r>
            <a:endParaRPr lang="es-ES" sz="800" b="1"/>
          </a:p>
          <a:p>
            <a:r>
              <a:rPr lang="es-ES" sz="800" b="1"/>
              <a:t>18.800 instalaciones precargadas</a:t>
            </a:r>
            <a:endParaRPr lang="es-ES"/>
          </a:p>
        </p:txBody>
      </p:sp>
      <p:sp>
        <p:nvSpPr>
          <p:cNvPr id="129" name="Rectángulo: esquinas redondeadas 128">
            <a:extLst>
              <a:ext uri="{FF2B5EF4-FFF2-40B4-BE49-F238E27FC236}">
                <a16:creationId xmlns:a16="http://schemas.microsoft.com/office/drawing/2014/main" id="{6D3290BB-764B-0545-059E-EB0FD413FAEE}"/>
              </a:ext>
            </a:extLst>
          </p:cNvPr>
          <p:cNvSpPr/>
          <p:nvPr/>
        </p:nvSpPr>
        <p:spPr>
          <a:xfrm>
            <a:off x="3734126" y="4027340"/>
            <a:ext cx="112378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41" name="Imagen 140">
            <a:extLst>
              <a:ext uri="{FF2B5EF4-FFF2-40B4-BE49-F238E27FC236}">
                <a16:creationId xmlns:a16="http://schemas.microsoft.com/office/drawing/2014/main" id="{1E90D6D5-57E7-E62E-DBA4-28553949A7D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15183" y="4282806"/>
            <a:ext cx="164865" cy="164865"/>
          </a:xfrm>
          <a:prstGeom prst="rect">
            <a:avLst/>
          </a:prstGeom>
        </p:spPr>
      </p:pic>
      <p:sp>
        <p:nvSpPr>
          <p:cNvPr id="149" name="Rectángulo: esquinas redondeadas 148">
            <a:extLst>
              <a:ext uri="{FF2B5EF4-FFF2-40B4-BE49-F238E27FC236}">
                <a16:creationId xmlns:a16="http://schemas.microsoft.com/office/drawing/2014/main" id="{B2ECB772-B5E3-C82B-77F1-52CFC53C8C53}"/>
              </a:ext>
            </a:extLst>
          </p:cNvPr>
          <p:cNvSpPr/>
          <p:nvPr/>
        </p:nvSpPr>
        <p:spPr>
          <a:xfrm>
            <a:off x="5773662" y="4015338"/>
            <a:ext cx="1726466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3" name="CuadroTexto 5">
            <a:extLst>
              <a:ext uri="{FF2B5EF4-FFF2-40B4-BE49-F238E27FC236}">
                <a16:creationId xmlns:a16="http://schemas.microsoft.com/office/drawing/2014/main" id="{07B94FF2-4ED1-A793-1EE1-DD89176A8539}"/>
              </a:ext>
            </a:extLst>
          </p:cNvPr>
          <p:cNvSpPr txBox="1"/>
          <p:nvPr/>
        </p:nvSpPr>
        <p:spPr>
          <a:xfrm>
            <a:off x="6074313" y="4164927"/>
            <a:ext cx="113748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1 Shopping Live en la locación de cliente</a:t>
            </a:r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8E142D28-527F-CB9B-A544-2DE238FAB9FA}"/>
              </a:ext>
            </a:extLst>
          </p:cNvPr>
          <p:cNvSpPr txBox="1"/>
          <p:nvPr/>
        </p:nvSpPr>
        <p:spPr>
          <a:xfrm>
            <a:off x="5500417" y="3618888"/>
            <a:ext cx="2261354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4. Conecta con el producto</a:t>
            </a:r>
            <a:endParaRPr lang="es-CO" sz="1200" b="1">
              <a:solidFill>
                <a:srgbClr val="C00000"/>
              </a:solidFill>
            </a:endParaRPr>
          </a:p>
        </p:txBody>
      </p:sp>
      <p:pic>
        <p:nvPicPr>
          <p:cNvPr id="4" name="Imagen 3" descr="Conectar - Iconos gratis de social">
            <a:extLst>
              <a:ext uri="{FF2B5EF4-FFF2-40B4-BE49-F238E27FC236}">
                <a16:creationId xmlns:a16="http://schemas.microsoft.com/office/drawing/2014/main" id="{0348B958-BF35-B9F9-202A-CF3C0EB5D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442" y="936549"/>
            <a:ext cx="748366" cy="74836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732B974-3C12-7D91-BFE1-0586D59E9ED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47258" y="4307613"/>
            <a:ext cx="164865" cy="1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4557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54E0B-C11C-09CD-602F-EADAA032B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9C4D93D-46D7-FA42-E08B-308E424ADD0C}"/>
              </a:ext>
            </a:extLst>
          </p:cNvPr>
          <p:cNvSpPr txBox="1"/>
          <p:nvPr/>
        </p:nvSpPr>
        <p:spPr>
          <a:xfrm>
            <a:off x="1546883" y="881693"/>
            <a:ext cx="40357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>
                <a:solidFill>
                  <a:srgbClr val="E8060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VIP (un todo posible)                 </a:t>
            </a:r>
          </a:p>
          <a:p>
            <a:r>
              <a:rPr lang="es-ES" sz="1600" b="1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LIDERAZGO Y AUTORIDAD DE MARCA</a:t>
            </a:r>
            <a:endParaRPr lang="es-CO" sz="1800" b="1">
              <a:solidFill>
                <a:schemeClr val="tx1">
                  <a:lumMod val="95000"/>
                  <a:lumOff val="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2BFCCA4-0328-997B-658B-A2E388B67397}"/>
              </a:ext>
            </a:extLst>
          </p:cNvPr>
          <p:cNvCxnSpPr>
            <a:cxnSpLocks/>
          </p:cNvCxnSpPr>
          <p:nvPr/>
        </p:nvCxnSpPr>
        <p:spPr>
          <a:xfrm>
            <a:off x="1546883" y="1446360"/>
            <a:ext cx="98235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88;p17" descr="ARO BLANCO.png">
            <a:extLst>
              <a:ext uri="{FF2B5EF4-FFF2-40B4-BE49-F238E27FC236}">
                <a16:creationId xmlns:a16="http://schemas.microsoft.com/office/drawing/2014/main" id="{B705033A-650E-9BC2-9369-408BB6E12AD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62517"/>
          <a:stretch/>
        </p:blipFill>
        <p:spPr>
          <a:xfrm>
            <a:off x="7120361" y="0"/>
            <a:ext cx="1555826" cy="632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718D5663-9F66-B375-BEFC-FDB377C1A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46193" y="275650"/>
            <a:ext cx="952006" cy="255210"/>
          </a:xfrm>
          <a:prstGeom prst="rect">
            <a:avLst/>
          </a:prstGeom>
        </p:spPr>
      </p:pic>
      <p:sp>
        <p:nvSpPr>
          <p:cNvPr id="3" name="Google Shape;92;p17">
            <a:extLst>
              <a:ext uri="{FF2B5EF4-FFF2-40B4-BE49-F238E27FC236}">
                <a16:creationId xmlns:a16="http://schemas.microsoft.com/office/drawing/2014/main" id="{8C2171C2-1A6E-5632-92EA-C44D554EAC0D}"/>
              </a:ext>
            </a:extLst>
          </p:cNvPr>
          <p:cNvSpPr txBox="1"/>
          <p:nvPr/>
        </p:nvSpPr>
        <p:spPr>
          <a:xfrm>
            <a:off x="106169" y="147661"/>
            <a:ext cx="6373229" cy="48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Narrow"/>
              <a:buNone/>
            </a:pPr>
            <a:r>
              <a:rPr lang="es" sz="3200" b="1">
                <a:solidFill>
                  <a:schemeClr val="bg1"/>
                </a:solidFill>
                <a:highlight>
                  <a:srgbClr val="FF0000"/>
                </a:highlight>
              </a:rPr>
              <a:t>PAQUETES POR CATEGORIAS</a:t>
            </a:r>
            <a:endParaRPr sz="3200" b="1" i="0" u="none" strike="noStrike" cap="none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F7724ED-CF0D-5B92-49EF-6C1C65AD1EAC}"/>
              </a:ext>
            </a:extLst>
          </p:cNvPr>
          <p:cNvSpPr txBox="1"/>
          <p:nvPr/>
        </p:nvSpPr>
        <p:spPr>
          <a:xfrm>
            <a:off x="1546883" y="1460075"/>
            <a:ext cx="368010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800"/>
              <a:t>Una solución integral de </a:t>
            </a:r>
            <a:r>
              <a:rPr lang="es-CO" sz="800" b="1"/>
              <a:t>6 meses </a:t>
            </a:r>
            <a:r>
              <a:rPr lang="es-CO" sz="800"/>
              <a:t>para fortalecer la presencia de tu marca y conectar con audiencias estratégicas a través de data, contenido y medios..</a:t>
            </a:r>
            <a:endParaRPr lang="es-CO" sz="800" b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387BC4F6-495B-DFC0-3CC4-314B04264ABE}"/>
              </a:ext>
            </a:extLst>
          </p:cNvPr>
          <p:cNvSpPr/>
          <p:nvPr/>
        </p:nvSpPr>
        <p:spPr>
          <a:xfrm>
            <a:off x="5874381" y="1420247"/>
            <a:ext cx="2491960" cy="421370"/>
          </a:xfrm>
          <a:prstGeom prst="roundRect">
            <a:avLst/>
          </a:prstGeom>
          <a:solidFill>
            <a:srgbClr val="E8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/>
              <a:t>$ 100.000.000 </a:t>
            </a:r>
            <a:r>
              <a:rPr lang="es-CO" sz="1100" i="1"/>
              <a:t>(Preventa)</a:t>
            </a:r>
            <a:endParaRPr lang="es-CO" i="1"/>
          </a:p>
          <a:p>
            <a:pPr algn="ctr"/>
            <a:r>
              <a:rPr lang="es-CO" sz="1200" b="1"/>
              <a:t>40% </a:t>
            </a:r>
            <a:r>
              <a:rPr lang="es-CO" sz="800" b="1"/>
              <a:t>de descuento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03AA80D5-6907-AE34-C63D-D986B0D8B0C2}"/>
              </a:ext>
            </a:extLst>
          </p:cNvPr>
          <p:cNvSpPr/>
          <p:nvPr/>
        </p:nvSpPr>
        <p:spPr>
          <a:xfrm>
            <a:off x="5874381" y="961656"/>
            <a:ext cx="2491960" cy="42137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>
                <a:solidFill>
                  <a:schemeClr val="tx1">
                    <a:lumMod val="95000"/>
                    <a:lumOff val="5000"/>
                  </a:schemeClr>
                </a:solidFill>
              </a:rPr>
              <a:t>$ 171.779.063</a:t>
            </a:r>
            <a:endParaRPr lang="es-CO" b="1" i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s-CO" sz="800" b="1" i="1">
                <a:solidFill>
                  <a:schemeClr val="tx1">
                    <a:lumMod val="95000"/>
                    <a:lumOff val="5000"/>
                  </a:schemeClr>
                </a:solidFill>
              </a:rPr>
              <a:t>Valor sin descuentos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4EAFF70A-20D9-3B5A-59A2-CFAB0C1BB1D4}"/>
              </a:ext>
            </a:extLst>
          </p:cNvPr>
          <p:cNvSpPr txBox="1"/>
          <p:nvPr/>
        </p:nvSpPr>
        <p:spPr>
          <a:xfrm>
            <a:off x="5226983" y="1803929"/>
            <a:ext cx="3154657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s-CO" sz="1100" i="1"/>
              <a:t>+ Impuestos</a:t>
            </a:r>
            <a:endParaRPr lang="es-CO" sz="1100" b="1" i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sp>
        <p:nvSpPr>
          <p:cNvPr id="128" name="Rectángulo: esquinas redondeadas 127">
            <a:extLst>
              <a:ext uri="{FF2B5EF4-FFF2-40B4-BE49-F238E27FC236}">
                <a16:creationId xmlns:a16="http://schemas.microsoft.com/office/drawing/2014/main" id="{6A0E4A1D-334D-D1BA-07CD-C1250EF9C6F5}"/>
              </a:ext>
            </a:extLst>
          </p:cNvPr>
          <p:cNvSpPr/>
          <p:nvPr/>
        </p:nvSpPr>
        <p:spPr>
          <a:xfrm>
            <a:off x="525780" y="2625327"/>
            <a:ext cx="98488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0" name="Rectángulo: esquinas redondeadas 129">
            <a:extLst>
              <a:ext uri="{FF2B5EF4-FFF2-40B4-BE49-F238E27FC236}">
                <a16:creationId xmlns:a16="http://schemas.microsoft.com/office/drawing/2014/main" id="{EDA3E25F-ECC5-261E-E752-5CA250C63605}"/>
              </a:ext>
            </a:extLst>
          </p:cNvPr>
          <p:cNvSpPr/>
          <p:nvPr/>
        </p:nvSpPr>
        <p:spPr>
          <a:xfrm>
            <a:off x="1750665" y="2625327"/>
            <a:ext cx="98488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2" name="Rectángulo: esquinas redondeadas 131">
            <a:extLst>
              <a:ext uri="{FF2B5EF4-FFF2-40B4-BE49-F238E27FC236}">
                <a16:creationId xmlns:a16="http://schemas.microsoft.com/office/drawing/2014/main" id="{49455341-84EC-BABF-A6CF-F669B39163E3}"/>
              </a:ext>
            </a:extLst>
          </p:cNvPr>
          <p:cNvSpPr/>
          <p:nvPr/>
        </p:nvSpPr>
        <p:spPr>
          <a:xfrm>
            <a:off x="3024008" y="2625327"/>
            <a:ext cx="98488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F675CBD0-D994-5C8B-5A64-EB613E447043}"/>
              </a:ext>
            </a:extLst>
          </p:cNvPr>
          <p:cNvSpPr/>
          <p:nvPr/>
        </p:nvSpPr>
        <p:spPr>
          <a:xfrm>
            <a:off x="4359331" y="2625327"/>
            <a:ext cx="1324484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6" name="Rectángulo: esquinas redondeadas 135">
            <a:extLst>
              <a:ext uri="{FF2B5EF4-FFF2-40B4-BE49-F238E27FC236}">
                <a16:creationId xmlns:a16="http://schemas.microsoft.com/office/drawing/2014/main" id="{4BF0657D-8FF6-B766-050C-24BB93B4042A}"/>
              </a:ext>
            </a:extLst>
          </p:cNvPr>
          <p:cNvSpPr/>
          <p:nvPr/>
        </p:nvSpPr>
        <p:spPr>
          <a:xfrm>
            <a:off x="500762" y="3928284"/>
            <a:ext cx="1323988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8" name="Rectángulo: esquinas redondeadas 137">
            <a:extLst>
              <a:ext uri="{FF2B5EF4-FFF2-40B4-BE49-F238E27FC236}">
                <a16:creationId xmlns:a16="http://schemas.microsoft.com/office/drawing/2014/main" id="{ACCE04EF-41D4-137B-584E-D1264F11DC33}"/>
              </a:ext>
            </a:extLst>
          </p:cNvPr>
          <p:cNvSpPr/>
          <p:nvPr/>
        </p:nvSpPr>
        <p:spPr>
          <a:xfrm>
            <a:off x="2359956" y="3928284"/>
            <a:ext cx="98488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0" name="CuadroTexto 5">
            <a:extLst>
              <a:ext uri="{FF2B5EF4-FFF2-40B4-BE49-F238E27FC236}">
                <a16:creationId xmlns:a16="http://schemas.microsoft.com/office/drawing/2014/main" id="{E4D69AA8-2EBC-F998-B0EB-751FDB9C8CCF}"/>
              </a:ext>
            </a:extLst>
          </p:cNvPr>
          <p:cNvSpPr txBox="1"/>
          <p:nvPr/>
        </p:nvSpPr>
        <p:spPr>
          <a:xfrm>
            <a:off x="1698419" y="2717660"/>
            <a:ext cx="1089451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Analítica GEOESPACIAL</a:t>
            </a:r>
          </a:p>
          <a:p>
            <a:r>
              <a:rPr lang="es-ES" sz="800" b="1"/>
              <a:t>Punto 1 a 3</a:t>
            </a:r>
            <a:endParaRPr lang="es-ES"/>
          </a:p>
        </p:txBody>
      </p:sp>
      <p:sp>
        <p:nvSpPr>
          <p:cNvPr id="142" name="CuadroTexto 5">
            <a:extLst>
              <a:ext uri="{FF2B5EF4-FFF2-40B4-BE49-F238E27FC236}">
                <a16:creationId xmlns:a16="http://schemas.microsoft.com/office/drawing/2014/main" id="{64C655D1-72BE-A48A-0718-CE4E5C5EECC0}"/>
              </a:ext>
            </a:extLst>
          </p:cNvPr>
          <p:cNvSpPr txBox="1"/>
          <p:nvPr/>
        </p:nvSpPr>
        <p:spPr>
          <a:xfrm>
            <a:off x="550460" y="2671494"/>
            <a:ext cx="944418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latin typeface="Arial"/>
                <a:ea typeface="+mj-ea"/>
                <a:cs typeface="Arial"/>
              </a:rPr>
              <a:t>Sondeos</a:t>
            </a:r>
            <a:endParaRPr lang="pt-BR" sz="1000">
              <a:latin typeface="Arial"/>
              <a:ea typeface="+mj-ea"/>
              <a:cs typeface="Arial"/>
            </a:endParaRPr>
          </a:p>
          <a:p>
            <a:pPr algn="ctr"/>
            <a:r>
              <a:rPr lang="pt-BR" sz="800" b="1">
                <a:latin typeface="Arial"/>
                <a:ea typeface="+mj-ea"/>
                <a:cs typeface="Arial"/>
              </a:rPr>
              <a:t>1.000 </a:t>
            </a:r>
          </a:p>
          <a:p>
            <a:pPr algn="ctr"/>
            <a:r>
              <a:rPr lang="pt-BR" sz="800" b="1" err="1">
                <a:latin typeface="Arial"/>
                <a:ea typeface="+mj-ea"/>
                <a:cs typeface="Arial"/>
              </a:rPr>
              <a:t>Respuestas</a:t>
            </a:r>
            <a:r>
              <a:rPr lang="pt-BR" sz="800" b="1">
                <a:latin typeface="Arial"/>
                <a:ea typeface="+mj-ea"/>
                <a:cs typeface="Arial"/>
              </a:rPr>
              <a:t> </a:t>
            </a:r>
          </a:p>
          <a:p>
            <a:pPr algn="ctr"/>
            <a:r>
              <a:rPr lang="pt-BR" sz="800" b="1" err="1">
                <a:latin typeface="Arial"/>
                <a:ea typeface="+mj-ea"/>
                <a:cs typeface="Arial"/>
              </a:rPr>
              <a:t>efectivas</a:t>
            </a:r>
            <a:endParaRPr lang="es-ES" sz="800" b="1">
              <a:latin typeface="Arial"/>
              <a:ea typeface="+mj-ea"/>
              <a:cs typeface="Arial"/>
            </a:endParaRPr>
          </a:p>
        </p:txBody>
      </p:sp>
      <p:sp>
        <p:nvSpPr>
          <p:cNvPr id="144" name="CuadroTexto 5">
            <a:extLst>
              <a:ext uri="{FF2B5EF4-FFF2-40B4-BE49-F238E27FC236}">
                <a16:creationId xmlns:a16="http://schemas.microsoft.com/office/drawing/2014/main" id="{DB9EA9D9-F6DB-A290-85BF-43362FBA80E5}"/>
              </a:ext>
            </a:extLst>
          </p:cNvPr>
          <p:cNvSpPr txBox="1"/>
          <p:nvPr/>
        </p:nvSpPr>
        <p:spPr>
          <a:xfrm>
            <a:off x="2899899" y="2717660"/>
            <a:ext cx="12222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Entrevista</a:t>
            </a:r>
          </a:p>
          <a:p>
            <a:r>
              <a:rPr lang="es-ES"/>
              <a:t>NOT RED+</a:t>
            </a:r>
          </a:p>
          <a:p>
            <a:r>
              <a:rPr lang="es-ES" sz="800" b="1"/>
              <a:t>1 salida</a:t>
            </a:r>
          </a:p>
        </p:txBody>
      </p:sp>
      <p:sp>
        <p:nvSpPr>
          <p:cNvPr id="146" name="CuadroTexto 5">
            <a:extLst>
              <a:ext uri="{FF2B5EF4-FFF2-40B4-BE49-F238E27FC236}">
                <a16:creationId xmlns:a16="http://schemas.microsoft.com/office/drawing/2014/main" id="{A8C6962C-857C-0DE8-4C5F-857DB9D0FFAA}"/>
              </a:ext>
            </a:extLst>
          </p:cNvPr>
          <p:cNvSpPr txBox="1"/>
          <p:nvPr/>
        </p:nvSpPr>
        <p:spPr>
          <a:xfrm>
            <a:off x="4226580" y="2656105"/>
            <a:ext cx="1549778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Cápsulas/Nota pregrabada</a:t>
            </a:r>
          </a:p>
          <a:p>
            <a:r>
              <a:rPr lang="es-ES" sz="800" b="1"/>
              <a:t>5 Salidas</a:t>
            </a:r>
            <a:br>
              <a:rPr lang="es-ES" sz="800" b="1"/>
            </a:br>
            <a:r>
              <a:rPr lang="es-ES" sz="800" b="1"/>
              <a:t>RED TV / RED+ Not</a:t>
            </a:r>
          </a:p>
        </p:txBody>
      </p:sp>
      <p:sp>
        <p:nvSpPr>
          <p:cNvPr id="148" name="CuadroTexto 5">
            <a:extLst>
              <a:ext uri="{FF2B5EF4-FFF2-40B4-BE49-F238E27FC236}">
                <a16:creationId xmlns:a16="http://schemas.microsoft.com/office/drawing/2014/main" id="{945E7CA3-2CB2-8917-B324-9333D9593456}"/>
              </a:ext>
            </a:extLst>
          </p:cNvPr>
          <p:cNvSpPr txBox="1"/>
          <p:nvPr/>
        </p:nvSpPr>
        <p:spPr>
          <a:xfrm>
            <a:off x="405678" y="4036006"/>
            <a:ext cx="1549778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err="1"/>
              <a:t>Superimposiciones</a:t>
            </a:r>
            <a:endParaRPr lang="es-ES"/>
          </a:p>
          <a:p>
            <a:r>
              <a:rPr lang="es-ES" sz="800" b="1"/>
              <a:t>20 Salidas</a:t>
            </a:r>
            <a:br>
              <a:rPr lang="es-ES" sz="800" b="1"/>
            </a:br>
            <a:r>
              <a:rPr lang="es-ES" sz="800" b="1"/>
              <a:t>RED TV / RED+ Not</a:t>
            </a:r>
          </a:p>
        </p:txBody>
      </p:sp>
      <p:sp>
        <p:nvSpPr>
          <p:cNvPr id="150" name="CuadroTexto 5">
            <a:extLst>
              <a:ext uri="{FF2B5EF4-FFF2-40B4-BE49-F238E27FC236}">
                <a16:creationId xmlns:a16="http://schemas.microsoft.com/office/drawing/2014/main" id="{2A2425C4-6CF0-9044-56F8-9B348E6022DC}"/>
              </a:ext>
            </a:extLst>
          </p:cNvPr>
          <p:cNvSpPr txBox="1"/>
          <p:nvPr/>
        </p:nvSpPr>
        <p:spPr>
          <a:xfrm>
            <a:off x="2329887" y="3959062"/>
            <a:ext cx="104502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Publicación Orgánica</a:t>
            </a:r>
          </a:p>
          <a:p>
            <a:r>
              <a:rPr lang="es-ES" sz="800" b="1"/>
              <a:t>2 Salidas</a:t>
            </a:r>
            <a:br>
              <a:rPr lang="es-ES" sz="800" b="1"/>
            </a:br>
            <a:r>
              <a:rPr lang="es-ES" sz="800" b="1"/>
              <a:t>RRSS - RED+ Not</a:t>
            </a:r>
          </a:p>
        </p:txBody>
      </p:sp>
      <p:sp>
        <p:nvSpPr>
          <p:cNvPr id="152" name="CuadroTexto 5">
            <a:extLst>
              <a:ext uri="{FF2B5EF4-FFF2-40B4-BE49-F238E27FC236}">
                <a16:creationId xmlns:a16="http://schemas.microsoft.com/office/drawing/2014/main" id="{EA7E7940-650C-F9D6-5924-E142923B77A3}"/>
              </a:ext>
            </a:extLst>
          </p:cNvPr>
          <p:cNvSpPr txBox="1"/>
          <p:nvPr/>
        </p:nvSpPr>
        <p:spPr>
          <a:xfrm>
            <a:off x="7594993" y="2656105"/>
            <a:ext cx="131797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Revista</a:t>
            </a:r>
          </a:p>
          <a:p>
            <a:r>
              <a:rPr lang="es-ES" b="1"/>
              <a:t>15 Minutos</a:t>
            </a:r>
          </a:p>
          <a:p>
            <a:r>
              <a:rPr lang="es-ES" sz="800"/>
              <a:t>Doble página de contenido</a:t>
            </a:r>
            <a:endParaRPr lang="es-ES"/>
          </a:p>
        </p:txBody>
      </p:sp>
      <p:sp>
        <p:nvSpPr>
          <p:cNvPr id="154" name="CuadroTexto 5">
            <a:extLst>
              <a:ext uri="{FF2B5EF4-FFF2-40B4-BE49-F238E27FC236}">
                <a16:creationId xmlns:a16="http://schemas.microsoft.com/office/drawing/2014/main" id="{423A8605-FEE7-2252-9C8E-E92326586237}"/>
              </a:ext>
            </a:extLst>
          </p:cNvPr>
          <p:cNvSpPr txBox="1"/>
          <p:nvPr/>
        </p:nvSpPr>
        <p:spPr>
          <a:xfrm>
            <a:off x="5912559" y="2656105"/>
            <a:ext cx="154977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latin typeface="Arial"/>
                <a:ea typeface="+mj-ea"/>
                <a:cs typeface="Arial"/>
              </a:rPr>
              <a:t>Nota destacada </a:t>
            </a:r>
            <a:r>
              <a:rPr lang="es-MX" sz="1000" err="1">
                <a:latin typeface="Arial"/>
                <a:ea typeface="+mj-ea"/>
                <a:cs typeface="Arial"/>
              </a:rPr>
              <a:t>landing</a:t>
            </a:r>
            <a:endParaRPr lang="es-MX" sz="1000">
              <a:latin typeface="Arial"/>
              <a:ea typeface="+mj-ea"/>
              <a:cs typeface="Arial"/>
            </a:endParaRPr>
          </a:p>
          <a:p>
            <a:pPr algn="ctr"/>
            <a:r>
              <a:rPr lang="es-MX" sz="1000" b="1">
                <a:latin typeface="Arial"/>
                <a:ea typeface="+mj-ea"/>
                <a:cs typeface="Arial"/>
              </a:rPr>
              <a:t>REDMAS.COM</a:t>
            </a:r>
          </a:p>
          <a:p>
            <a:pPr algn="ctr"/>
            <a:r>
              <a:rPr lang="es-MX" sz="800">
                <a:latin typeface="Arial"/>
                <a:ea typeface="+mj-ea"/>
                <a:cs typeface="Arial"/>
              </a:rPr>
              <a:t>Impulsado por SMS</a:t>
            </a:r>
          </a:p>
          <a:p>
            <a:pPr algn="ctr"/>
            <a:r>
              <a:rPr lang="es-MX" sz="800">
                <a:latin typeface="Arial"/>
                <a:ea typeface="+mj-ea"/>
                <a:cs typeface="Arial"/>
              </a:rPr>
              <a:t>19.443 Envíos</a:t>
            </a:r>
            <a:endParaRPr lang="pt-BR" sz="800">
              <a:latin typeface="Arial"/>
              <a:ea typeface="+mj-ea"/>
              <a:cs typeface="Arial"/>
            </a:endParaRPr>
          </a:p>
        </p:txBody>
      </p:sp>
      <p:sp>
        <p:nvSpPr>
          <p:cNvPr id="156" name="CuadroTexto 5">
            <a:extLst>
              <a:ext uri="{FF2B5EF4-FFF2-40B4-BE49-F238E27FC236}">
                <a16:creationId xmlns:a16="http://schemas.microsoft.com/office/drawing/2014/main" id="{77551C4C-4B03-14C7-D628-0B191406FCCF}"/>
              </a:ext>
            </a:extLst>
          </p:cNvPr>
          <p:cNvSpPr txBox="1"/>
          <p:nvPr/>
        </p:nvSpPr>
        <p:spPr>
          <a:xfrm>
            <a:off x="3831712" y="4020617"/>
            <a:ext cx="12222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RCS</a:t>
            </a:r>
          </a:p>
          <a:p>
            <a:r>
              <a:rPr lang="es-ES" sz="800" b="1"/>
              <a:t>22.156 Envíos</a:t>
            </a:r>
          </a:p>
          <a:p>
            <a:r>
              <a:rPr lang="es-ES" sz="800" b="1"/>
              <a:t>Con agente</a:t>
            </a:r>
          </a:p>
        </p:txBody>
      </p:sp>
      <p:sp>
        <p:nvSpPr>
          <p:cNvPr id="158" name="CuadroTexto 5">
            <a:extLst>
              <a:ext uri="{FF2B5EF4-FFF2-40B4-BE49-F238E27FC236}">
                <a16:creationId xmlns:a16="http://schemas.microsoft.com/office/drawing/2014/main" id="{D4B22503-EB86-C04B-E41D-41DB9B727702}"/>
              </a:ext>
            </a:extLst>
          </p:cNvPr>
          <p:cNvSpPr txBox="1"/>
          <p:nvPr/>
        </p:nvSpPr>
        <p:spPr>
          <a:xfrm>
            <a:off x="5392447" y="4020617"/>
            <a:ext cx="12222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err="1"/>
              <a:t>Display</a:t>
            </a:r>
            <a:r>
              <a:rPr lang="es-ES"/>
              <a:t> - Programática</a:t>
            </a:r>
            <a:br>
              <a:rPr lang="es-ES"/>
            </a:br>
            <a:r>
              <a:rPr lang="es-ES" sz="800" b="1"/>
              <a:t>3.727 Clics</a:t>
            </a:r>
          </a:p>
        </p:txBody>
      </p:sp>
      <p:sp>
        <p:nvSpPr>
          <p:cNvPr id="160" name="CuadroTexto 5">
            <a:extLst>
              <a:ext uri="{FF2B5EF4-FFF2-40B4-BE49-F238E27FC236}">
                <a16:creationId xmlns:a16="http://schemas.microsoft.com/office/drawing/2014/main" id="{29717A66-367B-C02A-8EE4-8320854B6385}"/>
              </a:ext>
            </a:extLst>
          </p:cNvPr>
          <p:cNvSpPr txBox="1"/>
          <p:nvPr/>
        </p:nvSpPr>
        <p:spPr>
          <a:xfrm>
            <a:off x="6985743" y="4097561"/>
            <a:ext cx="119262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Push Multimedia</a:t>
            </a:r>
          </a:p>
          <a:p>
            <a:r>
              <a:rPr lang="es-ES" sz="800" b="1"/>
              <a:t>18.583 Clics</a:t>
            </a:r>
            <a:endParaRPr lang="es-ES" sz="800"/>
          </a:p>
        </p:txBody>
      </p:sp>
      <p:pic>
        <p:nvPicPr>
          <p:cNvPr id="162" name="Imagen 161">
            <a:extLst>
              <a:ext uri="{FF2B5EF4-FFF2-40B4-BE49-F238E27FC236}">
                <a16:creationId xmlns:a16="http://schemas.microsoft.com/office/drawing/2014/main" id="{A7B90EA8-3957-1855-2B01-DAE5304629F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49007" y="2896838"/>
            <a:ext cx="164865" cy="164865"/>
          </a:xfrm>
          <a:prstGeom prst="rect">
            <a:avLst/>
          </a:prstGeom>
        </p:spPr>
      </p:pic>
      <p:pic>
        <p:nvPicPr>
          <p:cNvPr id="166" name="Imagen 165">
            <a:extLst>
              <a:ext uri="{FF2B5EF4-FFF2-40B4-BE49-F238E27FC236}">
                <a16:creationId xmlns:a16="http://schemas.microsoft.com/office/drawing/2014/main" id="{7D7054DA-636F-9156-76EE-25286301575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09856" y="2896838"/>
            <a:ext cx="164865" cy="164865"/>
          </a:xfrm>
          <a:prstGeom prst="rect">
            <a:avLst/>
          </a:prstGeom>
        </p:spPr>
      </p:pic>
      <p:pic>
        <p:nvPicPr>
          <p:cNvPr id="168" name="Imagen 167">
            <a:extLst>
              <a:ext uri="{FF2B5EF4-FFF2-40B4-BE49-F238E27FC236}">
                <a16:creationId xmlns:a16="http://schemas.microsoft.com/office/drawing/2014/main" id="{FBCF3250-8DE7-76E6-9995-A605B8C1E4D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31445" y="2896838"/>
            <a:ext cx="164865" cy="164865"/>
          </a:xfrm>
          <a:prstGeom prst="rect">
            <a:avLst/>
          </a:prstGeom>
        </p:spPr>
      </p:pic>
      <p:pic>
        <p:nvPicPr>
          <p:cNvPr id="170" name="Imagen 169">
            <a:extLst>
              <a:ext uri="{FF2B5EF4-FFF2-40B4-BE49-F238E27FC236}">
                <a16:creationId xmlns:a16="http://schemas.microsoft.com/office/drawing/2014/main" id="{ABA34A60-A088-AA13-04D0-A9A2AC6435B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20254" y="2896838"/>
            <a:ext cx="164865" cy="164865"/>
          </a:xfrm>
          <a:prstGeom prst="rect">
            <a:avLst/>
          </a:prstGeom>
        </p:spPr>
      </p:pic>
      <p:sp>
        <p:nvSpPr>
          <p:cNvPr id="172" name="Rectángulo: esquinas redondeadas 171">
            <a:extLst>
              <a:ext uri="{FF2B5EF4-FFF2-40B4-BE49-F238E27FC236}">
                <a16:creationId xmlns:a16="http://schemas.microsoft.com/office/drawing/2014/main" id="{4BE015DE-E783-5792-5F82-722277E8CDD2}"/>
              </a:ext>
            </a:extLst>
          </p:cNvPr>
          <p:cNvSpPr/>
          <p:nvPr/>
        </p:nvSpPr>
        <p:spPr>
          <a:xfrm>
            <a:off x="5952204" y="2625327"/>
            <a:ext cx="150943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4" name="Rectángulo: esquinas redondeadas 173">
            <a:extLst>
              <a:ext uri="{FF2B5EF4-FFF2-40B4-BE49-F238E27FC236}">
                <a16:creationId xmlns:a16="http://schemas.microsoft.com/office/drawing/2014/main" id="{D0B5C41F-9693-F44E-DA67-90524B88128C}"/>
              </a:ext>
            </a:extLst>
          </p:cNvPr>
          <p:cNvSpPr/>
          <p:nvPr/>
        </p:nvSpPr>
        <p:spPr>
          <a:xfrm>
            <a:off x="7813314" y="2625327"/>
            <a:ext cx="98488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6" name="Rectángulo: esquinas redondeadas 175">
            <a:extLst>
              <a:ext uri="{FF2B5EF4-FFF2-40B4-BE49-F238E27FC236}">
                <a16:creationId xmlns:a16="http://schemas.microsoft.com/office/drawing/2014/main" id="{CB8B86CE-C923-55D9-ED9D-9C4114655054}"/>
              </a:ext>
            </a:extLst>
          </p:cNvPr>
          <p:cNvSpPr/>
          <p:nvPr/>
        </p:nvSpPr>
        <p:spPr>
          <a:xfrm>
            <a:off x="3936065" y="3928284"/>
            <a:ext cx="98488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8" name="Rectángulo: esquinas redondeadas 177">
            <a:extLst>
              <a:ext uri="{FF2B5EF4-FFF2-40B4-BE49-F238E27FC236}">
                <a16:creationId xmlns:a16="http://schemas.microsoft.com/office/drawing/2014/main" id="{DE4FC986-D387-19D3-60FA-4075664579E6}"/>
              </a:ext>
            </a:extLst>
          </p:cNvPr>
          <p:cNvSpPr/>
          <p:nvPr/>
        </p:nvSpPr>
        <p:spPr>
          <a:xfrm>
            <a:off x="5481074" y="3928284"/>
            <a:ext cx="984885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0" name="Rectángulo: esquinas redondeadas 179">
            <a:extLst>
              <a:ext uri="{FF2B5EF4-FFF2-40B4-BE49-F238E27FC236}">
                <a16:creationId xmlns:a16="http://schemas.microsoft.com/office/drawing/2014/main" id="{CA66E316-84D2-8AC9-974D-D6DAB6871AFE}"/>
              </a:ext>
            </a:extLst>
          </p:cNvPr>
          <p:cNvSpPr/>
          <p:nvPr/>
        </p:nvSpPr>
        <p:spPr>
          <a:xfrm>
            <a:off x="7060123" y="3928284"/>
            <a:ext cx="1095388" cy="707886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82" name="Imagen 181">
            <a:extLst>
              <a:ext uri="{FF2B5EF4-FFF2-40B4-BE49-F238E27FC236}">
                <a16:creationId xmlns:a16="http://schemas.microsoft.com/office/drawing/2014/main" id="{76A2B6CE-0F5F-0E9E-9976-D8AC896B297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07467" y="4199795"/>
            <a:ext cx="164865" cy="164865"/>
          </a:xfrm>
          <a:prstGeom prst="rect">
            <a:avLst/>
          </a:prstGeom>
        </p:spPr>
      </p:pic>
      <p:pic>
        <p:nvPicPr>
          <p:cNvPr id="184" name="Imagen 183">
            <a:extLst>
              <a:ext uri="{FF2B5EF4-FFF2-40B4-BE49-F238E27FC236}">
                <a16:creationId xmlns:a16="http://schemas.microsoft.com/office/drawing/2014/main" id="{D20563B7-532A-AF0C-57B5-F185AD48481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52547" y="4199795"/>
            <a:ext cx="164865" cy="164865"/>
          </a:xfrm>
          <a:prstGeom prst="rect">
            <a:avLst/>
          </a:prstGeom>
        </p:spPr>
      </p:pic>
      <p:pic>
        <p:nvPicPr>
          <p:cNvPr id="188" name="Imagen 187">
            <a:extLst>
              <a:ext uri="{FF2B5EF4-FFF2-40B4-BE49-F238E27FC236}">
                <a16:creationId xmlns:a16="http://schemas.microsoft.com/office/drawing/2014/main" id="{F042CEC1-BA94-B886-8B07-0D9DE940457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81243" y="4199795"/>
            <a:ext cx="164865" cy="164865"/>
          </a:xfrm>
          <a:prstGeom prst="rect">
            <a:avLst/>
          </a:prstGeom>
        </p:spPr>
      </p:pic>
      <p:pic>
        <p:nvPicPr>
          <p:cNvPr id="190" name="Imagen 37" descr="Forma, Icono&#10;&#10;Descripción generada automáticamente">
            <a:extLst>
              <a:ext uri="{FF2B5EF4-FFF2-40B4-BE49-F238E27FC236}">
                <a16:creationId xmlns:a16="http://schemas.microsoft.com/office/drawing/2014/main" id="{95559FB4-97A1-60B6-A335-B5A61BE22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0" y="857037"/>
            <a:ext cx="984885" cy="984885"/>
          </a:xfrm>
          <a:prstGeom prst="rect">
            <a:avLst/>
          </a:prstGeom>
        </p:spPr>
      </p:pic>
      <p:sp>
        <p:nvSpPr>
          <p:cNvPr id="194" name="CuadroTexto 193">
            <a:extLst>
              <a:ext uri="{FF2B5EF4-FFF2-40B4-BE49-F238E27FC236}">
                <a16:creationId xmlns:a16="http://schemas.microsoft.com/office/drawing/2014/main" id="{88633DE4-D979-5B18-DE80-CA8B295D74F8}"/>
              </a:ext>
            </a:extLst>
          </p:cNvPr>
          <p:cNvSpPr txBox="1"/>
          <p:nvPr/>
        </p:nvSpPr>
        <p:spPr>
          <a:xfrm>
            <a:off x="514641" y="2305411"/>
            <a:ext cx="2220909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1. Descubre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54D33E1C-EC05-BCE8-161B-10E7E7DEA1B7}"/>
              </a:ext>
            </a:extLst>
          </p:cNvPr>
          <p:cNvSpPr txBox="1"/>
          <p:nvPr/>
        </p:nvSpPr>
        <p:spPr>
          <a:xfrm>
            <a:off x="3046868" y="2299155"/>
            <a:ext cx="5716132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2. Construye autoridad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AC36D3A5-5653-7D12-AFDE-1D0F929114FD}"/>
              </a:ext>
            </a:extLst>
          </p:cNvPr>
          <p:cNvSpPr txBox="1"/>
          <p:nvPr/>
        </p:nvSpPr>
        <p:spPr>
          <a:xfrm>
            <a:off x="525780" y="3596118"/>
            <a:ext cx="4351574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3. Gana Presencia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55DC00D5-C836-CF1B-0BAE-14555A1BA63E}"/>
              </a:ext>
            </a:extLst>
          </p:cNvPr>
          <p:cNvSpPr txBox="1"/>
          <p:nvPr/>
        </p:nvSpPr>
        <p:spPr>
          <a:xfrm>
            <a:off x="5481074" y="3596118"/>
            <a:ext cx="2674437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4. Activa</a:t>
            </a:r>
            <a:endParaRPr lang="es-CO" sz="12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02609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29F16-4D2B-B418-CC91-744DB615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48DE9DC-E0A3-F3F0-5EA1-2D1D0244CDBA}"/>
              </a:ext>
            </a:extLst>
          </p:cNvPr>
          <p:cNvSpPr txBox="1"/>
          <p:nvPr/>
        </p:nvSpPr>
        <p:spPr>
          <a:xfrm>
            <a:off x="1546883" y="881693"/>
            <a:ext cx="268823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>
                <a:solidFill>
                  <a:srgbClr val="E8060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SMART (</a:t>
            </a:r>
            <a:r>
              <a:rPr lang="es-ES" sz="1800" b="1" err="1">
                <a:solidFill>
                  <a:srgbClr val="E8060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Awareness</a:t>
            </a:r>
            <a:r>
              <a:rPr lang="es-ES" sz="1800" b="1">
                <a:solidFill>
                  <a:srgbClr val="E8060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)                       </a:t>
            </a:r>
            <a:r>
              <a:rPr lang="es-ES" sz="1600" b="1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POSICIONA Y AMPLIFICA</a:t>
            </a:r>
            <a:endParaRPr lang="es-CO" sz="1800" b="1">
              <a:solidFill>
                <a:schemeClr val="tx1">
                  <a:lumMod val="95000"/>
                  <a:lumOff val="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4E95ECB-D596-BA1C-708C-46B49FFE61E0}"/>
              </a:ext>
            </a:extLst>
          </p:cNvPr>
          <p:cNvCxnSpPr>
            <a:cxnSpLocks/>
          </p:cNvCxnSpPr>
          <p:nvPr/>
        </p:nvCxnSpPr>
        <p:spPr>
          <a:xfrm>
            <a:off x="1546883" y="1446360"/>
            <a:ext cx="98235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88;p17" descr="ARO BLANCO.png">
            <a:extLst>
              <a:ext uri="{FF2B5EF4-FFF2-40B4-BE49-F238E27FC236}">
                <a16:creationId xmlns:a16="http://schemas.microsoft.com/office/drawing/2014/main" id="{211BD27F-48D6-092E-7E53-517349B073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62517"/>
          <a:stretch/>
        </p:blipFill>
        <p:spPr>
          <a:xfrm>
            <a:off x="7120361" y="0"/>
            <a:ext cx="1555826" cy="632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FAFF7BE0-1D6E-EA4C-BC9B-5CDD5D7D3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46193" y="275650"/>
            <a:ext cx="952006" cy="255210"/>
          </a:xfrm>
          <a:prstGeom prst="rect">
            <a:avLst/>
          </a:prstGeom>
        </p:spPr>
      </p:pic>
      <p:sp>
        <p:nvSpPr>
          <p:cNvPr id="3" name="Google Shape;92;p17">
            <a:extLst>
              <a:ext uri="{FF2B5EF4-FFF2-40B4-BE49-F238E27FC236}">
                <a16:creationId xmlns:a16="http://schemas.microsoft.com/office/drawing/2014/main" id="{001B036A-22F3-D5F3-2198-5C8B42C25BFD}"/>
              </a:ext>
            </a:extLst>
          </p:cNvPr>
          <p:cNvSpPr txBox="1"/>
          <p:nvPr/>
        </p:nvSpPr>
        <p:spPr>
          <a:xfrm>
            <a:off x="106169" y="147661"/>
            <a:ext cx="6373229" cy="48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Narrow"/>
              <a:buNone/>
            </a:pPr>
            <a:r>
              <a:rPr lang="es" sz="3200" b="1">
                <a:solidFill>
                  <a:schemeClr val="bg1"/>
                </a:solidFill>
                <a:highlight>
                  <a:srgbClr val="FF0000"/>
                </a:highlight>
              </a:rPr>
              <a:t>PAQUETES POR CATEGORIAS</a:t>
            </a:r>
            <a:endParaRPr sz="3200" b="1" i="0" u="none" strike="noStrike" cap="none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3AB2A3F-4524-0501-C926-BD8B805FF7BA}"/>
              </a:ext>
            </a:extLst>
          </p:cNvPr>
          <p:cNvSpPr txBox="1"/>
          <p:nvPr/>
        </p:nvSpPr>
        <p:spPr>
          <a:xfrm>
            <a:off x="1546883" y="1460075"/>
            <a:ext cx="333047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800"/>
              <a:t>Una solución de </a:t>
            </a:r>
            <a:r>
              <a:rPr lang="es-CO" sz="800" b="1"/>
              <a:t>2 meses </a:t>
            </a:r>
            <a:r>
              <a:rPr lang="es-CO" sz="800"/>
              <a:t>para fortalecer el posicionamiento de tu marca y amplificar tu mensaje en audiencias y medios estratégicos.</a:t>
            </a:r>
            <a:endParaRPr lang="es-CO" sz="800" b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135D41EC-993B-34CC-5D9F-9D9268CE1707}"/>
              </a:ext>
            </a:extLst>
          </p:cNvPr>
          <p:cNvSpPr/>
          <p:nvPr/>
        </p:nvSpPr>
        <p:spPr>
          <a:xfrm>
            <a:off x="5874381" y="1420247"/>
            <a:ext cx="2491960" cy="421370"/>
          </a:xfrm>
          <a:prstGeom prst="roundRect">
            <a:avLst/>
          </a:prstGeom>
          <a:solidFill>
            <a:srgbClr val="E8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/>
              <a:t>$ 50.000.000</a:t>
            </a:r>
            <a:r>
              <a:rPr lang="es-CO"/>
              <a:t> </a:t>
            </a:r>
            <a:r>
              <a:rPr lang="es-CO" sz="1100" i="1"/>
              <a:t>(Preventa)</a:t>
            </a:r>
            <a:endParaRPr lang="es-CO" i="1"/>
          </a:p>
          <a:p>
            <a:pPr algn="ctr"/>
            <a:r>
              <a:rPr lang="es-CO" sz="1200" b="1"/>
              <a:t>19% </a:t>
            </a:r>
            <a:r>
              <a:rPr lang="es-CO" sz="800" b="1"/>
              <a:t>de descuento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1B2BFA7E-04D0-5E97-4BB8-00BA35CCF108}"/>
              </a:ext>
            </a:extLst>
          </p:cNvPr>
          <p:cNvSpPr/>
          <p:nvPr/>
        </p:nvSpPr>
        <p:spPr>
          <a:xfrm>
            <a:off x="5874381" y="961656"/>
            <a:ext cx="2491960" cy="42137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>
                <a:solidFill>
                  <a:schemeClr val="tx1">
                    <a:lumMod val="95000"/>
                    <a:lumOff val="5000"/>
                  </a:schemeClr>
                </a:solidFill>
              </a:rPr>
              <a:t>$ 61.600.000</a:t>
            </a:r>
            <a:endParaRPr lang="es-CO" b="1" i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s-CO" sz="800" b="1" i="1">
                <a:solidFill>
                  <a:schemeClr val="tx1">
                    <a:lumMod val="95000"/>
                    <a:lumOff val="5000"/>
                  </a:schemeClr>
                </a:solidFill>
              </a:rPr>
              <a:t>Valor sin descuentos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A9F7F8AE-A195-0AEF-027E-099064BAC1A9}"/>
              </a:ext>
            </a:extLst>
          </p:cNvPr>
          <p:cNvSpPr txBox="1"/>
          <p:nvPr/>
        </p:nvSpPr>
        <p:spPr>
          <a:xfrm>
            <a:off x="5226983" y="1803929"/>
            <a:ext cx="3154657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s-CO" sz="1100" i="1"/>
              <a:t>+ Impuestos</a:t>
            </a:r>
            <a:endParaRPr lang="es-CO" sz="1100" b="1" i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pic>
        <p:nvPicPr>
          <p:cNvPr id="58" name="Imagen 33" descr="Icono&#10;&#10;Descripción generada automáticamente">
            <a:extLst>
              <a:ext uri="{FF2B5EF4-FFF2-40B4-BE49-F238E27FC236}">
                <a16:creationId xmlns:a16="http://schemas.microsoft.com/office/drawing/2014/main" id="{3CA1272A-6863-8695-D61C-17BF7D660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99" y="1065300"/>
            <a:ext cx="769155" cy="769155"/>
          </a:xfrm>
          <a:prstGeom prst="rect">
            <a:avLst/>
          </a:prstGeom>
        </p:spPr>
      </p:pic>
      <p:sp>
        <p:nvSpPr>
          <p:cNvPr id="68" name="CuadroTexto 5">
            <a:extLst>
              <a:ext uri="{FF2B5EF4-FFF2-40B4-BE49-F238E27FC236}">
                <a16:creationId xmlns:a16="http://schemas.microsoft.com/office/drawing/2014/main" id="{0587B73B-2687-EBA8-E7D9-73689DEB4768}"/>
              </a:ext>
            </a:extLst>
          </p:cNvPr>
          <p:cNvSpPr txBox="1"/>
          <p:nvPr/>
        </p:nvSpPr>
        <p:spPr>
          <a:xfrm>
            <a:off x="2854503" y="2629097"/>
            <a:ext cx="1333299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2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Analítica GEOESPACIAL</a:t>
            </a:r>
          </a:p>
          <a:p>
            <a:r>
              <a:rPr lang="es-ES" sz="1000" b="1"/>
              <a:t>Punto 1 a 3</a:t>
            </a:r>
          </a:p>
        </p:txBody>
      </p:sp>
      <p:sp>
        <p:nvSpPr>
          <p:cNvPr id="70" name="CuadroTexto 5">
            <a:extLst>
              <a:ext uri="{FF2B5EF4-FFF2-40B4-BE49-F238E27FC236}">
                <a16:creationId xmlns:a16="http://schemas.microsoft.com/office/drawing/2014/main" id="{60A0AEE5-0873-2C04-02DF-27DAE83B1223}"/>
              </a:ext>
            </a:extLst>
          </p:cNvPr>
          <p:cNvSpPr txBox="1"/>
          <p:nvPr/>
        </p:nvSpPr>
        <p:spPr>
          <a:xfrm>
            <a:off x="1251900" y="2567541"/>
            <a:ext cx="944418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200">
                <a:latin typeface="Arial"/>
                <a:ea typeface="+mj-ea"/>
                <a:cs typeface="Arial"/>
              </a:rPr>
              <a:t>Sondeos</a:t>
            </a:r>
            <a:endParaRPr lang="pt-BR" sz="1200">
              <a:latin typeface="Arial"/>
              <a:ea typeface="+mj-ea"/>
              <a:cs typeface="Arial"/>
            </a:endParaRPr>
          </a:p>
          <a:p>
            <a:pPr algn="ctr"/>
            <a:r>
              <a:rPr lang="pt-BR" sz="1000" b="1">
                <a:latin typeface="Arial"/>
                <a:ea typeface="+mj-ea"/>
                <a:cs typeface="Arial"/>
              </a:rPr>
              <a:t>500</a:t>
            </a:r>
          </a:p>
          <a:p>
            <a:pPr algn="ctr"/>
            <a:r>
              <a:rPr lang="pt-BR" sz="1000" b="1" err="1">
                <a:latin typeface="Arial"/>
                <a:ea typeface="+mj-ea"/>
                <a:cs typeface="Arial"/>
              </a:rPr>
              <a:t>Respuestas</a:t>
            </a:r>
            <a:r>
              <a:rPr lang="pt-BR" sz="1000" b="1">
                <a:latin typeface="Arial"/>
                <a:ea typeface="+mj-ea"/>
                <a:cs typeface="Arial"/>
              </a:rPr>
              <a:t> </a:t>
            </a:r>
          </a:p>
          <a:p>
            <a:pPr algn="ctr"/>
            <a:r>
              <a:rPr lang="pt-BR" sz="1000" b="1" err="1">
                <a:latin typeface="Arial"/>
                <a:ea typeface="+mj-ea"/>
                <a:cs typeface="Arial"/>
              </a:rPr>
              <a:t>efectivas</a:t>
            </a:r>
            <a:endParaRPr lang="es-ES" sz="1000" b="1">
              <a:latin typeface="Arial"/>
              <a:ea typeface="+mj-ea"/>
              <a:cs typeface="Arial"/>
            </a:endParaRPr>
          </a:p>
        </p:txBody>
      </p:sp>
      <p:sp>
        <p:nvSpPr>
          <p:cNvPr id="72" name="CuadroTexto 5">
            <a:extLst>
              <a:ext uri="{FF2B5EF4-FFF2-40B4-BE49-F238E27FC236}">
                <a16:creationId xmlns:a16="http://schemas.microsoft.com/office/drawing/2014/main" id="{10DA5D6D-487C-C183-3CED-7FD60511D75B}"/>
              </a:ext>
            </a:extLst>
          </p:cNvPr>
          <p:cNvSpPr txBox="1"/>
          <p:nvPr/>
        </p:nvSpPr>
        <p:spPr>
          <a:xfrm>
            <a:off x="5856936" y="2659416"/>
            <a:ext cx="1222200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/>
              <a:t>Entrevista</a:t>
            </a:r>
          </a:p>
          <a:p>
            <a:r>
              <a:rPr lang="es-ES" sz="1200"/>
              <a:t>NOT RED+</a:t>
            </a:r>
          </a:p>
          <a:p>
            <a:r>
              <a:rPr lang="es-ES" b="1"/>
              <a:t>1 salida</a:t>
            </a:r>
          </a:p>
        </p:txBody>
      </p:sp>
      <p:sp>
        <p:nvSpPr>
          <p:cNvPr id="74" name="CuadroTexto 5">
            <a:extLst>
              <a:ext uri="{FF2B5EF4-FFF2-40B4-BE49-F238E27FC236}">
                <a16:creationId xmlns:a16="http://schemas.microsoft.com/office/drawing/2014/main" id="{A20EF8F7-2C32-CE38-40CD-F81F465984E7}"/>
              </a:ext>
            </a:extLst>
          </p:cNvPr>
          <p:cNvSpPr txBox="1"/>
          <p:nvPr/>
        </p:nvSpPr>
        <p:spPr>
          <a:xfrm>
            <a:off x="7220842" y="2674805"/>
            <a:ext cx="154977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err="1"/>
              <a:t>superimpo</a:t>
            </a:r>
            <a:endParaRPr lang="es-ES" sz="1200"/>
          </a:p>
          <a:p>
            <a:r>
              <a:rPr lang="es-ES" b="1"/>
              <a:t>10 Salidas</a:t>
            </a:r>
            <a:br>
              <a:rPr lang="es-ES" b="1"/>
            </a:br>
            <a:r>
              <a:rPr lang="es-ES" b="1"/>
              <a:t> RED+ Not</a:t>
            </a:r>
          </a:p>
        </p:txBody>
      </p:sp>
      <p:sp>
        <p:nvSpPr>
          <p:cNvPr id="76" name="CuadroTexto 5">
            <a:extLst>
              <a:ext uri="{FF2B5EF4-FFF2-40B4-BE49-F238E27FC236}">
                <a16:creationId xmlns:a16="http://schemas.microsoft.com/office/drawing/2014/main" id="{F42D3899-DD9E-F579-0037-07063B1DD608}"/>
              </a:ext>
            </a:extLst>
          </p:cNvPr>
          <p:cNvSpPr txBox="1"/>
          <p:nvPr/>
        </p:nvSpPr>
        <p:spPr>
          <a:xfrm>
            <a:off x="4357619" y="2567083"/>
            <a:ext cx="1222200" cy="8002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000">
                <a:latin typeface="Arial"/>
                <a:ea typeface="+mj-ea"/>
                <a:cs typeface="Arial"/>
              </a:rPr>
              <a:t>Nota destacada </a:t>
            </a:r>
            <a:r>
              <a:rPr lang="es-MX" sz="1000" err="1">
                <a:latin typeface="Arial"/>
                <a:ea typeface="+mj-ea"/>
                <a:cs typeface="Arial"/>
              </a:rPr>
              <a:t>landing</a:t>
            </a:r>
            <a:endParaRPr lang="es-MX" sz="1000">
              <a:latin typeface="Arial"/>
              <a:ea typeface="+mj-ea"/>
              <a:cs typeface="Arial"/>
            </a:endParaRPr>
          </a:p>
          <a:p>
            <a:pPr algn="ctr"/>
            <a:r>
              <a:rPr lang="es-MX" sz="1000" b="1">
                <a:latin typeface="Arial"/>
                <a:ea typeface="+mj-ea"/>
                <a:cs typeface="Arial"/>
              </a:rPr>
              <a:t>REDMAS.COM</a:t>
            </a:r>
          </a:p>
          <a:p>
            <a:pPr algn="ctr"/>
            <a:r>
              <a:rPr lang="es-MX" sz="800">
                <a:latin typeface="Arial"/>
                <a:ea typeface="+mj-ea"/>
                <a:cs typeface="Arial"/>
              </a:rPr>
              <a:t>Impulsado por SMS</a:t>
            </a:r>
          </a:p>
          <a:p>
            <a:pPr algn="ctr"/>
            <a:r>
              <a:rPr lang="es-MX" sz="800">
                <a:latin typeface="Arial"/>
                <a:ea typeface="+mj-ea"/>
                <a:cs typeface="Arial"/>
              </a:rPr>
              <a:t>10.911 Envíos</a:t>
            </a:r>
            <a:endParaRPr lang="pt-BR" sz="800">
              <a:latin typeface="Arial"/>
              <a:ea typeface="+mj-ea"/>
              <a:cs typeface="Arial"/>
            </a:endParaRPr>
          </a:p>
        </p:txBody>
      </p:sp>
      <p:sp>
        <p:nvSpPr>
          <p:cNvPr id="78" name="CuadroTexto 5">
            <a:extLst>
              <a:ext uri="{FF2B5EF4-FFF2-40B4-BE49-F238E27FC236}">
                <a16:creationId xmlns:a16="http://schemas.microsoft.com/office/drawing/2014/main" id="{3BD1E9CB-CAD2-6D6A-4440-2C2A4FE49B8C}"/>
              </a:ext>
            </a:extLst>
          </p:cNvPr>
          <p:cNvSpPr txBox="1"/>
          <p:nvPr/>
        </p:nvSpPr>
        <p:spPr>
          <a:xfrm>
            <a:off x="2408163" y="4079143"/>
            <a:ext cx="122220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err="1"/>
              <a:t>Display</a:t>
            </a:r>
            <a:r>
              <a:rPr lang="es-ES" sz="1200"/>
              <a:t> </a:t>
            </a:r>
            <a:br>
              <a:rPr lang="es-ES" sz="1200"/>
            </a:br>
            <a:r>
              <a:rPr lang="es-ES" b="1"/>
              <a:t>3.892 Clics</a:t>
            </a:r>
          </a:p>
        </p:txBody>
      </p:sp>
      <p:sp>
        <p:nvSpPr>
          <p:cNvPr id="80" name="CuadroTexto 5">
            <a:extLst>
              <a:ext uri="{FF2B5EF4-FFF2-40B4-BE49-F238E27FC236}">
                <a16:creationId xmlns:a16="http://schemas.microsoft.com/office/drawing/2014/main" id="{2514C467-9587-626F-BA16-C5C67B58503B}"/>
              </a:ext>
            </a:extLst>
          </p:cNvPr>
          <p:cNvSpPr txBox="1"/>
          <p:nvPr/>
        </p:nvSpPr>
        <p:spPr>
          <a:xfrm>
            <a:off x="3609424" y="4079143"/>
            <a:ext cx="1549778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/>
              <a:t>Push Multimedia</a:t>
            </a:r>
          </a:p>
          <a:p>
            <a:r>
              <a:rPr lang="es-ES" b="1"/>
              <a:t>12.389 Clics</a:t>
            </a:r>
            <a:endParaRPr lang="es-ES"/>
          </a:p>
        </p:txBody>
      </p:sp>
      <p:pic>
        <p:nvPicPr>
          <p:cNvPr id="82" name="Imagen 81">
            <a:extLst>
              <a:ext uri="{FF2B5EF4-FFF2-40B4-BE49-F238E27FC236}">
                <a16:creationId xmlns:a16="http://schemas.microsoft.com/office/drawing/2014/main" id="{E143AD92-59DF-0798-9CBC-BD383624483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42815" y="2854441"/>
            <a:ext cx="164865" cy="164865"/>
          </a:xfrm>
          <a:prstGeom prst="rect">
            <a:avLst/>
          </a:prstGeom>
        </p:spPr>
      </p:pic>
      <p:pic>
        <p:nvPicPr>
          <p:cNvPr id="86" name="Imagen 85">
            <a:extLst>
              <a:ext uri="{FF2B5EF4-FFF2-40B4-BE49-F238E27FC236}">
                <a16:creationId xmlns:a16="http://schemas.microsoft.com/office/drawing/2014/main" id="{CE0735D2-BFDE-8AC1-5E1C-D1D12FB91B38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48713" y="2884760"/>
            <a:ext cx="164865" cy="164865"/>
          </a:xfrm>
          <a:prstGeom prst="rect">
            <a:avLst/>
          </a:prstGeom>
        </p:spPr>
      </p:pic>
      <p:pic>
        <p:nvPicPr>
          <p:cNvPr id="94" name="Imagen 93">
            <a:extLst>
              <a:ext uri="{FF2B5EF4-FFF2-40B4-BE49-F238E27FC236}">
                <a16:creationId xmlns:a16="http://schemas.microsoft.com/office/drawing/2014/main" id="{9054325C-E24E-5A28-E1F5-E8F35285368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16624" y="2884760"/>
            <a:ext cx="164865" cy="164865"/>
          </a:xfrm>
          <a:prstGeom prst="rect">
            <a:avLst/>
          </a:prstGeom>
        </p:spPr>
      </p:pic>
      <p:pic>
        <p:nvPicPr>
          <p:cNvPr id="96" name="Imagen 95">
            <a:extLst>
              <a:ext uri="{FF2B5EF4-FFF2-40B4-BE49-F238E27FC236}">
                <a16:creationId xmlns:a16="http://schemas.microsoft.com/office/drawing/2014/main" id="{8D3FFD20-9FDE-7EBE-B52B-51C2E31D62B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90474" y="4212154"/>
            <a:ext cx="164865" cy="164865"/>
          </a:xfrm>
          <a:prstGeom prst="rect">
            <a:avLst/>
          </a:prstGeom>
        </p:spPr>
      </p:pic>
      <p:sp>
        <p:nvSpPr>
          <p:cNvPr id="98" name="CuadroTexto 97">
            <a:extLst>
              <a:ext uri="{FF2B5EF4-FFF2-40B4-BE49-F238E27FC236}">
                <a16:creationId xmlns:a16="http://schemas.microsoft.com/office/drawing/2014/main" id="{724D219F-5B67-C45B-6BBE-36081240667B}"/>
              </a:ext>
            </a:extLst>
          </p:cNvPr>
          <p:cNvSpPr txBox="1"/>
          <p:nvPr/>
        </p:nvSpPr>
        <p:spPr>
          <a:xfrm>
            <a:off x="1230270" y="2236465"/>
            <a:ext cx="2778142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1. C</a:t>
            </a:r>
            <a:r>
              <a:rPr lang="es-CO" sz="1200" b="1" err="1">
                <a:solidFill>
                  <a:srgbClr val="C00000"/>
                </a:solidFill>
              </a:rPr>
              <a:t>onoce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100" name="Rectángulo: esquinas redondeadas 99">
            <a:extLst>
              <a:ext uri="{FF2B5EF4-FFF2-40B4-BE49-F238E27FC236}">
                <a16:creationId xmlns:a16="http://schemas.microsoft.com/office/drawing/2014/main" id="{CECC7070-CE0D-EADB-2D26-4BB61F1B3CD9}"/>
              </a:ext>
            </a:extLst>
          </p:cNvPr>
          <p:cNvSpPr/>
          <p:nvPr/>
        </p:nvSpPr>
        <p:spPr>
          <a:xfrm>
            <a:off x="1178823" y="2580814"/>
            <a:ext cx="1112334" cy="710470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3EED2C2C-FD0C-1C08-C48D-0C56BBF8A11C}"/>
              </a:ext>
            </a:extLst>
          </p:cNvPr>
          <p:cNvSpPr/>
          <p:nvPr/>
        </p:nvSpPr>
        <p:spPr>
          <a:xfrm>
            <a:off x="2967791" y="2580814"/>
            <a:ext cx="1112334" cy="710470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4" name="Rectángulo: esquinas redondeadas 103">
            <a:extLst>
              <a:ext uri="{FF2B5EF4-FFF2-40B4-BE49-F238E27FC236}">
                <a16:creationId xmlns:a16="http://schemas.microsoft.com/office/drawing/2014/main" id="{D3B2C73A-8DCB-E939-F227-962A0A88ED64}"/>
              </a:ext>
            </a:extLst>
          </p:cNvPr>
          <p:cNvSpPr/>
          <p:nvPr/>
        </p:nvSpPr>
        <p:spPr>
          <a:xfrm>
            <a:off x="5906115" y="2557792"/>
            <a:ext cx="1112334" cy="818801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5A83A676-894A-9535-A043-F2903D7209B8}"/>
              </a:ext>
            </a:extLst>
          </p:cNvPr>
          <p:cNvSpPr txBox="1"/>
          <p:nvPr/>
        </p:nvSpPr>
        <p:spPr>
          <a:xfrm>
            <a:off x="2471717" y="3601639"/>
            <a:ext cx="3859854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3. Impacta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110" name="Rectángulo: esquinas redondeadas 109">
            <a:extLst>
              <a:ext uri="{FF2B5EF4-FFF2-40B4-BE49-F238E27FC236}">
                <a16:creationId xmlns:a16="http://schemas.microsoft.com/office/drawing/2014/main" id="{4B79FFAA-268E-221C-A77E-7BADAF0077C8}"/>
              </a:ext>
            </a:extLst>
          </p:cNvPr>
          <p:cNvSpPr/>
          <p:nvPr/>
        </p:nvSpPr>
        <p:spPr>
          <a:xfrm>
            <a:off x="2450948" y="3939351"/>
            <a:ext cx="1112334" cy="710470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2" name="Rectángulo: esquinas redondeadas 111">
            <a:extLst>
              <a:ext uri="{FF2B5EF4-FFF2-40B4-BE49-F238E27FC236}">
                <a16:creationId xmlns:a16="http://schemas.microsoft.com/office/drawing/2014/main" id="{6DEA27BD-AACE-0ED7-0071-8F448CDA7998}"/>
              </a:ext>
            </a:extLst>
          </p:cNvPr>
          <p:cNvSpPr/>
          <p:nvPr/>
        </p:nvSpPr>
        <p:spPr>
          <a:xfrm>
            <a:off x="3814340" y="3939351"/>
            <a:ext cx="1112334" cy="710470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14" name="Imagen 113">
            <a:extLst>
              <a:ext uri="{FF2B5EF4-FFF2-40B4-BE49-F238E27FC236}">
                <a16:creationId xmlns:a16="http://schemas.microsoft.com/office/drawing/2014/main" id="{A03E77DA-0C57-40AB-FAF5-27DCAA44438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69627" y="2811391"/>
            <a:ext cx="164865" cy="164865"/>
          </a:xfrm>
          <a:prstGeom prst="rect">
            <a:avLst/>
          </a:prstGeom>
        </p:spPr>
      </p:pic>
      <p:sp>
        <p:nvSpPr>
          <p:cNvPr id="116" name="Rectángulo: esquinas redondeadas 115">
            <a:extLst>
              <a:ext uri="{FF2B5EF4-FFF2-40B4-BE49-F238E27FC236}">
                <a16:creationId xmlns:a16="http://schemas.microsoft.com/office/drawing/2014/main" id="{091A9D94-0797-BF39-A73A-114E6548FCE9}"/>
              </a:ext>
            </a:extLst>
          </p:cNvPr>
          <p:cNvSpPr/>
          <p:nvPr/>
        </p:nvSpPr>
        <p:spPr>
          <a:xfrm>
            <a:off x="4418305" y="2557792"/>
            <a:ext cx="1112334" cy="818801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8" name="Rectángulo: esquinas redondeadas 117">
            <a:extLst>
              <a:ext uri="{FF2B5EF4-FFF2-40B4-BE49-F238E27FC236}">
                <a16:creationId xmlns:a16="http://schemas.microsoft.com/office/drawing/2014/main" id="{9F468C24-FEF0-F404-0452-2BA2754C1C8B}"/>
              </a:ext>
            </a:extLst>
          </p:cNvPr>
          <p:cNvSpPr/>
          <p:nvPr/>
        </p:nvSpPr>
        <p:spPr>
          <a:xfrm>
            <a:off x="7444054" y="2557792"/>
            <a:ext cx="1112334" cy="818801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AA630E19-436C-FAFB-3052-50FDDCB145D7}"/>
              </a:ext>
            </a:extLst>
          </p:cNvPr>
          <p:cNvSpPr txBox="1"/>
          <p:nvPr/>
        </p:nvSpPr>
        <p:spPr>
          <a:xfrm>
            <a:off x="4420580" y="2229783"/>
            <a:ext cx="4135808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2. Posiciona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122" name="CuadroTexto 5">
            <a:extLst>
              <a:ext uri="{FF2B5EF4-FFF2-40B4-BE49-F238E27FC236}">
                <a16:creationId xmlns:a16="http://schemas.microsoft.com/office/drawing/2014/main" id="{0ACDE416-8EF2-1666-E89E-B4995CB1F256}"/>
              </a:ext>
            </a:extLst>
          </p:cNvPr>
          <p:cNvSpPr txBox="1"/>
          <p:nvPr/>
        </p:nvSpPr>
        <p:spPr>
          <a:xfrm>
            <a:off x="5032847" y="4002199"/>
            <a:ext cx="154977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err="1"/>
              <a:t>Sat</a:t>
            </a:r>
            <a:r>
              <a:rPr lang="es-ES" sz="1200"/>
              <a:t> Push</a:t>
            </a:r>
          </a:p>
          <a:p>
            <a:r>
              <a:rPr lang="es-ES" b="1"/>
              <a:t>16.163</a:t>
            </a:r>
          </a:p>
          <a:p>
            <a:r>
              <a:rPr lang="es-ES" b="1"/>
              <a:t>Envíos</a:t>
            </a:r>
            <a:endParaRPr lang="es-ES"/>
          </a:p>
        </p:txBody>
      </p:sp>
      <p:pic>
        <p:nvPicPr>
          <p:cNvPr id="124" name="Imagen 123">
            <a:extLst>
              <a:ext uri="{FF2B5EF4-FFF2-40B4-BE49-F238E27FC236}">
                <a16:creationId xmlns:a16="http://schemas.microsoft.com/office/drawing/2014/main" id="{C4D06A58-E3C6-B473-D2E6-C99E48B1A19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21517" y="4212154"/>
            <a:ext cx="164865" cy="164865"/>
          </a:xfrm>
          <a:prstGeom prst="rect">
            <a:avLst/>
          </a:prstGeom>
        </p:spPr>
      </p:pic>
      <p:sp>
        <p:nvSpPr>
          <p:cNvPr id="126" name="Rectángulo: esquinas redondeadas 125">
            <a:extLst>
              <a:ext uri="{FF2B5EF4-FFF2-40B4-BE49-F238E27FC236}">
                <a16:creationId xmlns:a16="http://schemas.microsoft.com/office/drawing/2014/main" id="{5012D43F-1201-80F1-128A-9F695964358C}"/>
              </a:ext>
            </a:extLst>
          </p:cNvPr>
          <p:cNvSpPr/>
          <p:nvPr/>
        </p:nvSpPr>
        <p:spPr>
          <a:xfrm>
            <a:off x="5237763" y="3939351"/>
            <a:ext cx="1112334" cy="710470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36116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50998-0C88-85F0-A08C-1F8EF806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0C61E0B-F18D-2116-5CC0-F323C40749F4}"/>
              </a:ext>
            </a:extLst>
          </p:cNvPr>
          <p:cNvSpPr txBox="1"/>
          <p:nvPr/>
        </p:nvSpPr>
        <p:spPr>
          <a:xfrm>
            <a:off x="1546883" y="881693"/>
            <a:ext cx="232685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>
                <a:solidFill>
                  <a:srgbClr val="E8060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BASIC (Negocios)                      </a:t>
            </a:r>
            <a:r>
              <a:rPr lang="es-ES" sz="1600" b="1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CONOCE Y CONECTA</a:t>
            </a:r>
            <a:endParaRPr lang="es-CO" sz="1800" b="1">
              <a:solidFill>
                <a:schemeClr val="tx1">
                  <a:lumMod val="95000"/>
                  <a:lumOff val="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FEAA13A-4AC3-31E9-55B1-40A600DC244F}"/>
              </a:ext>
            </a:extLst>
          </p:cNvPr>
          <p:cNvCxnSpPr>
            <a:cxnSpLocks/>
          </p:cNvCxnSpPr>
          <p:nvPr/>
        </p:nvCxnSpPr>
        <p:spPr>
          <a:xfrm>
            <a:off x="1546883" y="1446360"/>
            <a:ext cx="98235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88;p17" descr="ARO BLANCO.png">
            <a:extLst>
              <a:ext uri="{FF2B5EF4-FFF2-40B4-BE49-F238E27FC236}">
                <a16:creationId xmlns:a16="http://schemas.microsoft.com/office/drawing/2014/main" id="{2E0C5EEC-76B6-8EDE-995C-32158775D4C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62517"/>
          <a:stretch/>
        </p:blipFill>
        <p:spPr>
          <a:xfrm>
            <a:off x="7120361" y="0"/>
            <a:ext cx="1555826" cy="632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28B28B6F-FD3A-FED1-0AB1-D65F6F93B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46193" y="275650"/>
            <a:ext cx="952006" cy="255210"/>
          </a:xfrm>
          <a:prstGeom prst="rect">
            <a:avLst/>
          </a:prstGeom>
        </p:spPr>
      </p:pic>
      <p:sp>
        <p:nvSpPr>
          <p:cNvPr id="3" name="Google Shape;92;p17">
            <a:extLst>
              <a:ext uri="{FF2B5EF4-FFF2-40B4-BE49-F238E27FC236}">
                <a16:creationId xmlns:a16="http://schemas.microsoft.com/office/drawing/2014/main" id="{5A233375-3AC7-8D10-70FA-CDB2BA5D9A1E}"/>
              </a:ext>
            </a:extLst>
          </p:cNvPr>
          <p:cNvSpPr txBox="1"/>
          <p:nvPr/>
        </p:nvSpPr>
        <p:spPr>
          <a:xfrm>
            <a:off x="106169" y="147661"/>
            <a:ext cx="6373229" cy="48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Narrow"/>
              <a:buNone/>
            </a:pPr>
            <a:r>
              <a:rPr lang="es" sz="3200" b="1">
                <a:solidFill>
                  <a:schemeClr val="bg1"/>
                </a:solidFill>
                <a:highlight>
                  <a:srgbClr val="FF0000"/>
                </a:highlight>
              </a:rPr>
              <a:t>PAQUETES POR CATEGORIAS</a:t>
            </a:r>
            <a:endParaRPr sz="3200" b="1" i="0" u="none" strike="noStrike" cap="none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E825A3B-F7B4-0AF2-D5E9-FBBA9FE0302F}"/>
              </a:ext>
            </a:extLst>
          </p:cNvPr>
          <p:cNvSpPr txBox="1"/>
          <p:nvPr/>
        </p:nvSpPr>
        <p:spPr>
          <a:xfrm>
            <a:off x="1546883" y="1460075"/>
            <a:ext cx="315465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800"/>
              <a:t>Una solución de </a:t>
            </a:r>
            <a:r>
              <a:rPr lang="es-CO" sz="800" b="1"/>
              <a:t>2 meses </a:t>
            </a:r>
            <a:r>
              <a:rPr lang="es-CO" sz="800"/>
              <a:t>para llevar tu mensaje a diferentes audiencias.</a:t>
            </a:r>
            <a:endParaRPr lang="es-CO" sz="800" b="1">
              <a:solidFill>
                <a:schemeClr val="tx1"/>
              </a:solidFill>
              <a:latin typeface="Century Gothic"/>
              <a:cs typeface="Aharoni"/>
            </a:endParaRPr>
          </a:p>
        </p:txBody>
      </p:sp>
      <p:pic>
        <p:nvPicPr>
          <p:cNvPr id="9" name="Imagen 35" descr="Icono&#10;&#10;Descripción generada automáticamente">
            <a:extLst>
              <a:ext uri="{FF2B5EF4-FFF2-40B4-BE49-F238E27FC236}">
                <a16:creationId xmlns:a16="http://schemas.microsoft.com/office/drawing/2014/main" id="{C179C128-5A39-B821-4CA2-F455EE656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94" y="1056126"/>
            <a:ext cx="796910" cy="796910"/>
          </a:xfrm>
          <a:prstGeom prst="rect">
            <a:avLst/>
          </a:prstGeom>
        </p:spPr>
      </p:pic>
      <p:sp>
        <p:nvSpPr>
          <p:cNvPr id="28" name="CuadroTexto 5">
            <a:extLst>
              <a:ext uri="{FF2B5EF4-FFF2-40B4-BE49-F238E27FC236}">
                <a16:creationId xmlns:a16="http://schemas.microsoft.com/office/drawing/2014/main" id="{136D1DC3-8393-33A2-0BB0-38C5DE1D5526}"/>
              </a:ext>
            </a:extLst>
          </p:cNvPr>
          <p:cNvSpPr txBox="1"/>
          <p:nvPr/>
        </p:nvSpPr>
        <p:spPr>
          <a:xfrm>
            <a:off x="7307088" y="3295825"/>
            <a:ext cx="1089451" cy="61555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/>
              <a:t>Push Multimedia</a:t>
            </a:r>
          </a:p>
          <a:p>
            <a:r>
              <a:rPr lang="es-ES" b="1"/>
              <a:t>3.767 clics</a:t>
            </a:r>
            <a:endParaRPr lang="es-ES"/>
          </a:p>
        </p:txBody>
      </p:sp>
      <p:sp>
        <p:nvSpPr>
          <p:cNvPr id="31" name="CuadroTexto 5">
            <a:extLst>
              <a:ext uri="{FF2B5EF4-FFF2-40B4-BE49-F238E27FC236}">
                <a16:creationId xmlns:a16="http://schemas.microsoft.com/office/drawing/2014/main" id="{9D375E41-1092-A559-D988-30011C0BE6F6}"/>
              </a:ext>
            </a:extLst>
          </p:cNvPr>
          <p:cNvSpPr txBox="1"/>
          <p:nvPr/>
        </p:nvSpPr>
        <p:spPr>
          <a:xfrm>
            <a:off x="661317" y="3234269"/>
            <a:ext cx="1110808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200">
                <a:latin typeface="Arial"/>
                <a:ea typeface="+mj-ea"/>
                <a:cs typeface="Arial"/>
              </a:rPr>
              <a:t>Sondeos</a:t>
            </a:r>
            <a:endParaRPr lang="pt-BR" sz="1200">
              <a:latin typeface="Arial"/>
              <a:ea typeface="+mj-ea"/>
              <a:cs typeface="Arial"/>
            </a:endParaRPr>
          </a:p>
          <a:p>
            <a:pPr algn="ctr"/>
            <a:r>
              <a:rPr lang="pt-BR" sz="1000" b="1">
                <a:latin typeface="Arial"/>
                <a:ea typeface="+mj-ea"/>
                <a:cs typeface="Arial"/>
              </a:rPr>
              <a:t>500</a:t>
            </a:r>
          </a:p>
          <a:p>
            <a:pPr algn="ctr"/>
            <a:r>
              <a:rPr lang="pt-BR" sz="1000" b="1" err="1">
                <a:latin typeface="Arial"/>
                <a:ea typeface="+mj-ea"/>
                <a:cs typeface="Arial"/>
              </a:rPr>
              <a:t>Respuestas</a:t>
            </a:r>
            <a:r>
              <a:rPr lang="pt-BR" sz="1000" b="1">
                <a:latin typeface="Arial"/>
                <a:ea typeface="+mj-ea"/>
                <a:cs typeface="Arial"/>
              </a:rPr>
              <a:t> </a:t>
            </a:r>
          </a:p>
          <a:p>
            <a:pPr algn="ctr"/>
            <a:r>
              <a:rPr lang="pt-BR" sz="1000" b="1" err="1">
                <a:latin typeface="Arial"/>
                <a:ea typeface="+mj-ea"/>
                <a:cs typeface="Arial"/>
              </a:rPr>
              <a:t>efectivas</a:t>
            </a:r>
            <a:endParaRPr lang="es-ES" sz="1000" b="1">
              <a:latin typeface="Arial"/>
              <a:ea typeface="+mj-ea"/>
              <a:cs typeface="Arial"/>
            </a:endParaRPr>
          </a:p>
        </p:txBody>
      </p:sp>
      <p:sp>
        <p:nvSpPr>
          <p:cNvPr id="34" name="CuadroTexto 5">
            <a:extLst>
              <a:ext uri="{FF2B5EF4-FFF2-40B4-BE49-F238E27FC236}">
                <a16:creationId xmlns:a16="http://schemas.microsoft.com/office/drawing/2014/main" id="{56751F7B-8EB4-DBF7-5DC7-576A07639604}"/>
              </a:ext>
            </a:extLst>
          </p:cNvPr>
          <p:cNvSpPr txBox="1"/>
          <p:nvPr/>
        </p:nvSpPr>
        <p:spPr>
          <a:xfrm>
            <a:off x="2206691" y="3311214"/>
            <a:ext cx="148202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/>
              <a:t>Native</a:t>
            </a:r>
          </a:p>
          <a:p>
            <a:r>
              <a:rPr lang="es-ES" b="1"/>
              <a:t>1.220.361 </a:t>
            </a:r>
          </a:p>
          <a:p>
            <a:r>
              <a:rPr lang="es-ES" b="1"/>
              <a:t>Impresiones</a:t>
            </a:r>
          </a:p>
        </p:txBody>
      </p:sp>
      <p:sp>
        <p:nvSpPr>
          <p:cNvPr id="37" name="CuadroTexto 5">
            <a:extLst>
              <a:ext uri="{FF2B5EF4-FFF2-40B4-BE49-F238E27FC236}">
                <a16:creationId xmlns:a16="http://schemas.microsoft.com/office/drawing/2014/main" id="{21B5F921-38AA-B317-EB53-D534A1AC0F0A}"/>
              </a:ext>
            </a:extLst>
          </p:cNvPr>
          <p:cNvSpPr txBox="1"/>
          <p:nvPr/>
        </p:nvSpPr>
        <p:spPr>
          <a:xfrm>
            <a:off x="5346742" y="3295825"/>
            <a:ext cx="1549778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/>
              <a:t>Comerciales </a:t>
            </a:r>
          </a:p>
          <a:p>
            <a:r>
              <a:rPr lang="es-ES" sz="1200"/>
              <a:t>NOT RED+</a:t>
            </a:r>
          </a:p>
          <a:p>
            <a:r>
              <a:rPr lang="es-ES" b="1"/>
              <a:t>20 Spots</a:t>
            </a: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366B83D2-8804-C2E2-9C26-84FAEECC702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70975" y="3521169"/>
            <a:ext cx="164865" cy="164865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0C7CFDF7-318C-667C-F6B8-954572D63F9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024855" y="3521169"/>
            <a:ext cx="164865" cy="164865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4F942D6C-4DC2-9833-0E26-363A713FDCB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53068" y="3521169"/>
            <a:ext cx="164865" cy="164865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CD63D8E-7A98-FAFA-A1E7-67435655F989}"/>
              </a:ext>
            </a:extLst>
          </p:cNvPr>
          <p:cNvSpPr/>
          <p:nvPr/>
        </p:nvSpPr>
        <p:spPr>
          <a:xfrm>
            <a:off x="653559" y="3125040"/>
            <a:ext cx="1112334" cy="957122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5">
            <a:extLst>
              <a:ext uri="{FF2B5EF4-FFF2-40B4-BE49-F238E27FC236}">
                <a16:creationId xmlns:a16="http://schemas.microsoft.com/office/drawing/2014/main" id="{181DE722-D00F-9BBF-6A18-060646385381}"/>
              </a:ext>
            </a:extLst>
          </p:cNvPr>
          <p:cNvSpPr txBox="1"/>
          <p:nvPr/>
        </p:nvSpPr>
        <p:spPr>
          <a:xfrm>
            <a:off x="3817933" y="3311214"/>
            <a:ext cx="154977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algn="ctr" defTabSz="457200" eaLnBrk="1" latinLnBrk="0" hangingPunct="1">
              <a:defRPr sz="1000" kern="1200">
                <a:solidFill>
                  <a:schemeClr val="tx1"/>
                </a:solidFill>
                <a:ea typeface="+mj-ea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err="1"/>
              <a:t>Display</a:t>
            </a:r>
            <a:endParaRPr lang="es-ES" sz="1200"/>
          </a:p>
          <a:p>
            <a:r>
              <a:rPr lang="es-ES" b="1"/>
              <a:t>839.043 </a:t>
            </a:r>
          </a:p>
          <a:p>
            <a:r>
              <a:rPr lang="es-ES" b="1"/>
              <a:t>Impresiones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75DA806-7CAE-73C2-C555-8B669F66C54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64310" y="3521169"/>
            <a:ext cx="164865" cy="164865"/>
          </a:xfrm>
          <a:prstGeom prst="rect">
            <a:avLst/>
          </a:prstGeom>
        </p:spPr>
      </p:pic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C6E88EFE-7C0F-75D0-3B93-BEE06CA3D4C2}"/>
              </a:ext>
            </a:extLst>
          </p:cNvPr>
          <p:cNvSpPr/>
          <p:nvPr/>
        </p:nvSpPr>
        <p:spPr>
          <a:xfrm>
            <a:off x="7295646" y="3125040"/>
            <a:ext cx="1112334" cy="957122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97E2F23F-289E-07C9-9D94-5971EC65D85A}"/>
              </a:ext>
            </a:extLst>
          </p:cNvPr>
          <p:cNvSpPr/>
          <p:nvPr/>
        </p:nvSpPr>
        <p:spPr>
          <a:xfrm>
            <a:off x="2391534" y="3125040"/>
            <a:ext cx="1112334" cy="957122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B58BB10E-223D-1643-E18C-998A6D50E94C}"/>
              </a:ext>
            </a:extLst>
          </p:cNvPr>
          <p:cNvSpPr/>
          <p:nvPr/>
        </p:nvSpPr>
        <p:spPr>
          <a:xfrm>
            <a:off x="4036655" y="3125040"/>
            <a:ext cx="1112334" cy="957122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C7001502-5ED8-FD21-B3FD-451BCB9163D4}"/>
              </a:ext>
            </a:extLst>
          </p:cNvPr>
          <p:cNvSpPr/>
          <p:nvPr/>
        </p:nvSpPr>
        <p:spPr>
          <a:xfrm>
            <a:off x="5565464" y="3125040"/>
            <a:ext cx="1112334" cy="957122"/>
          </a:xfrm>
          <a:prstGeom prst="roundRect">
            <a:avLst/>
          </a:prstGeom>
          <a:noFill/>
          <a:ln w="31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5FE35EA-C1A0-458C-1900-968E268515DD}"/>
              </a:ext>
            </a:extLst>
          </p:cNvPr>
          <p:cNvSpPr txBox="1"/>
          <p:nvPr/>
        </p:nvSpPr>
        <p:spPr>
          <a:xfrm>
            <a:off x="623661" y="2689381"/>
            <a:ext cx="1172130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CO" sz="1200" b="1">
                <a:solidFill>
                  <a:srgbClr val="C00000"/>
                </a:solidFill>
              </a:rPr>
              <a:t>Descubre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8609CA9D-FDD8-8A41-6C57-6DC3E43B34CA}"/>
              </a:ext>
            </a:extLst>
          </p:cNvPr>
          <p:cNvSpPr txBox="1"/>
          <p:nvPr/>
        </p:nvSpPr>
        <p:spPr>
          <a:xfrm>
            <a:off x="7301319" y="2687128"/>
            <a:ext cx="1095220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s-MX" sz="1200" b="1">
                <a:solidFill>
                  <a:srgbClr val="C00000"/>
                </a:solidFill>
              </a:rPr>
              <a:t>C</a:t>
            </a:r>
            <a:r>
              <a:rPr lang="es-CO" sz="1200" b="1" err="1">
                <a:solidFill>
                  <a:srgbClr val="C00000"/>
                </a:solidFill>
              </a:rPr>
              <a:t>onecta</a:t>
            </a:r>
            <a:endParaRPr lang="es-CO" sz="1200" b="1">
              <a:solidFill>
                <a:srgbClr val="C00000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934F7A0-8AFF-49D2-77C6-09F616733C15}"/>
              </a:ext>
            </a:extLst>
          </p:cNvPr>
          <p:cNvSpPr txBox="1"/>
          <p:nvPr/>
        </p:nvSpPr>
        <p:spPr>
          <a:xfrm>
            <a:off x="2439430" y="2687128"/>
            <a:ext cx="4204218" cy="276999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1200" b="1">
                <a:solidFill>
                  <a:srgbClr val="C00000"/>
                </a:solidFill>
              </a:defRPr>
            </a:lvl1pPr>
          </a:lstStyle>
          <a:p>
            <a:r>
              <a:rPr lang="es-MX"/>
              <a:t>Hazte Visible</a:t>
            </a:r>
            <a:endParaRPr lang="es-CO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AD0DD565-ACBF-3B37-FA41-9C16C1103E19}"/>
              </a:ext>
            </a:extLst>
          </p:cNvPr>
          <p:cNvSpPr/>
          <p:nvPr/>
        </p:nvSpPr>
        <p:spPr>
          <a:xfrm>
            <a:off x="5874381" y="1420247"/>
            <a:ext cx="2491960" cy="421370"/>
          </a:xfrm>
          <a:prstGeom prst="roundRect">
            <a:avLst/>
          </a:prstGeom>
          <a:solidFill>
            <a:srgbClr val="E8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/>
              <a:t>$ 20.000.000</a:t>
            </a:r>
            <a:r>
              <a:rPr lang="es-CO"/>
              <a:t> </a:t>
            </a:r>
            <a:r>
              <a:rPr lang="es-CO" sz="1100" i="1"/>
              <a:t>(Preventa)</a:t>
            </a:r>
            <a:endParaRPr lang="es-CO" i="1"/>
          </a:p>
          <a:p>
            <a:pPr algn="ctr"/>
            <a:r>
              <a:rPr lang="es-CO" sz="1200" b="1"/>
              <a:t>10% </a:t>
            </a:r>
            <a:r>
              <a:rPr lang="es-CO" sz="800" b="1"/>
              <a:t>de descuento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DB83810C-49AF-72A6-749A-832CD563B4F2}"/>
              </a:ext>
            </a:extLst>
          </p:cNvPr>
          <p:cNvSpPr/>
          <p:nvPr/>
        </p:nvSpPr>
        <p:spPr>
          <a:xfrm>
            <a:off x="5874381" y="961656"/>
            <a:ext cx="2491960" cy="42137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b="1">
                <a:solidFill>
                  <a:schemeClr val="tx1">
                    <a:lumMod val="95000"/>
                    <a:lumOff val="5000"/>
                  </a:schemeClr>
                </a:solidFill>
              </a:rPr>
              <a:t>$ 22.320.800</a:t>
            </a:r>
            <a:endParaRPr lang="es-CO" b="1" i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s-CO" sz="800" b="1" i="1">
                <a:solidFill>
                  <a:schemeClr val="tx1">
                    <a:lumMod val="95000"/>
                    <a:lumOff val="5000"/>
                  </a:schemeClr>
                </a:solidFill>
              </a:rPr>
              <a:t>Valor sin descuentos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9DEC41F-7D41-591F-1E28-CFA86F33A8D8}"/>
              </a:ext>
            </a:extLst>
          </p:cNvPr>
          <p:cNvSpPr txBox="1"/>
          <p:nvPr/>
        </p:nvSpPr>
        <p:spPr>
          <a:xfrm>
            <a:off x="5226983" y="1803929"/>
            <a:ext cx="3154657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s-CO" sz="1100" i="1"/>
              <a:t>+ Impuestos</a:t>
            </a:r>
            <a:endParaRPr lang="es-CO" sz="1100" b="1" i="1">
              <a:solidFill>
                <a:schemeClr val="tx1"/>
              </a:solidFill>
              <a:latin typeface="Century Gothic"/>
              <a:cs typeface="Aharoni"/>
            </a:endParaRPr>
          </a:p>
        </p:txBody>
      </p:sp>
    </p:spTree>
    <p:extLst>
      <p:ext uri="{BB962C8B-B14F-4D97-AF65-F5344CB8AC3E}">
        <p14:creationId xmlns:p14="http://schemas.microsoft.com/office/powerpoint/2010/main" val="343272340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330219AF-D464-7A3B-D1D4-4A5783B9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7E13F1B8-3C88-0225-6D3D-DF9DA6669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707" y="2099735"/>
            <a:ext cx="2938586" cy="777222"/>
          </a:xfrm>
          <a:prstGeom prst="rect">
            <a:avLst/>
          </a:prstGeom>
        </p:spPr>
      </p:pic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CE9527AE-6F64-19AC-00D0-6B55E49B0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1"/>
            <a:ext cx="9144000" cy="5142198"/>
          </a:xfrm>
          <a:prstGeom prst="rect">
            <a:avLst/>
          </a:prstGeom>
        </p:spPr>
      </p:pic>
      <p:pic>
        <p:nvPicPr>
          <p:cNvPr id="5" name="Imagen 4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11BA2AD9-896C-5FD5-8954-2D244C6FF2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99905" y="2414868"/>
            <a:ext cx="1544189" cy="41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7238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Luisa Fernanda Fajardo Rodriguez</dc:creator>
  <cp:revision>4</cp:revision>
  <dcterms:modified xsi:type="dcterms:W3CDTF">2026-09-23T21:20:32Z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df07b2-0175-4a85-af11-305389ad5d4d_Enabled">
    <vt:lpwstr>true</vt:lpwstr>
  </property>
  <property fmtid="{D5CDD505-2E9C-101B-9397-08002B2CF9AE}" pid="3" name="MSIP_Label_5bdf07b2-0175-4a85-af11-305389ad5d4d_SetDate">
    <vt:lpwstr>2024-09-17T16:22:23Z</vt:lpwstr>
  </property>
  <property fmtid="{D5CDD505-2E9C-101B-9397-08002B2CF9AE}" pid="4" name="MSIP_Label_5bdf07b2-0175-4a85-af11-305389ad5d4d_Method">
    <vt:lpwstr>Standard</vt:lpwstr>
  </property>
  <property fmtid="{D5CDD505-2E9C-101B-9397-08002B2CF9AE}" pid="5" name="MSIP_Label_5bdf07b2-0175-4a85-af11-305389ad5d4d_Name">
    <vt:lpwstr>Interno</vt:lpwstr>
  </property>
  <property fmtid="{D5CDD505-2E9C-101B-9397-08002B2CF9AE}" pid="6" name="MSIP_Label_5bdf07b2-0175-4a85-af11-305389ad5d4d_SiteId">
    <vt:lpwstr>46bb22b8-4c2c-40ff-8360-7b6334821279</vt:lpwstr>
  </property>
  <property fmtid="{D5CDD505-2E9C-101B-9397-08002B2CF9AE}" pid="7" name="MSIP_Label_5bdf07b2-0175-4a85-af11-305389ad5d4d_ActionId">
    <vt:lpwstr>0c674cc6-d82f-4095-81b8-31096c4c1f97</vt:lpwstr>
  </property>
  <property fmtid="{D5CDD505-2E9C-101B-9397-08002B2CF9AE}" pid="8" name="MSIP_Label_5bdf07b2-0175-4a85-af11-305389ad5d4d_ContentBits">
    <vt:lpwstr>2</vt:lpwstr>
  </property>
  <property fmtid="{D5CDD505-2E9C-101B-9397-08002B2CF9AE}" pid="9" name="ClassificationContentMarkingFooterLocations">
    <vt:lpwstr>Simple Light:3</vt:lpwstr>
  </property>
  <property fmtid="{D5CDD505-2E9C-101B-9397-08002B2CF9AE}" pid="10" name="ClassificationContentMarkingFooterText">
    <vt:lpwstr>Clasificación: Uso Interno. Documento Claro Colombia</vt:lpwstr>
  </property>
</Properties>
</file>